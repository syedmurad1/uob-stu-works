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Object-Oriented Programming: Principles and the History of Pytho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12700">
              <a:lnSpc>
                <a:spcPct val="1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7000"/>
            </a:lvl1pPr>
          </a:lstStyle>
          <a:p>
            <a:pPr/>
            <a:r>
              <a:t>Object-Oriented Programming: Principles and the History of Python</a:t>
            </a:r>
          </a:p>
        </p:txBody>
      </p:sp>
      <p:sp>
        <p:nvSpPr>
          <p:cNvPr id="172" name="University of Bristol | Week 1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900"/>
            </a:pPr>
            <a:r>
              <a:t>University of Bristol | Week 1</a:t>
            </a:r>
            <a:endParaRPr b="0"/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900"/>
            </a:pPr>
            <a:r>
              <a:t>Presented by: Mustafa, Matvei, Alp, Thanat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What is computer programming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computer programming?</a:t>
            </a:r>
          </a:p>
        </p:txBody>
      </p:sp>
      <p:sp>
        <p:nvSpPr>
          <p:cNvPr id="175" name="Computer programming is process when user make instructions for a computer.…"/>
          <p:cNvSpPr txBox="1"/>
          <p:nvPr>
            <p:ph type="body" sz="half" idx="1"/>
          </p:nvPr>
        </p:nvSpPr>
        <p:spPr>
          <a:xfrm>
            <a:off x="1206500" y="2621486"/>
            <a:ext cx="11475316" cy="9883030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Computer programming is process when user make instructions for a computer.</a:t>
            </a:r>
          </a:p>
          <a:p>
            <a:pPr/>
          </a:p>
          <a:p>
            <a:pPr/>
          </a:p>
          <a:p>
            <a:pPr/>
            <a:r>
              <a:t>Goal: Solve problems and make process faster </a:t>
            </a:r>
          </a:p>
        </p:txBody>
      </p:sp>
      <p:pic>
        <p:nvPicPr>
          <p:cNvPr id="176" name="images.jpeg" descr="images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397600" y="3340100"/>
            <a:ext cx="7035801" cy="7035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rogramming languag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Programming languages </a:t>
            </a:r>
          </a:p>
        </p:txBody>
      </p:sp>
      <p:sp>
        <p:nvSpPr>
          <p:cNvPr id="179" name="There are two main groups:…"/>
          <p:cNvSpPr txBox="1"/>
          <p:nvPr>
            <p:ph type="body" sz="half" idx="1"/>
          </p:nvPr>
        </p:nvSpPr>
        <p:spPr>
          <a:xfrm>
            <a:off x="1206500" y="2911147"/>
            <a:ext cx="11066858" cy="9593369"/>
          </a:xfrm>
          <a:prstGeom prst="rect">
            <a:avLst/>
          </a:prstGeom>
        </p:spPr>
        <p:txBody>
          <a:bodyPr/>
          <a:lstStyle/>
          <a:p>
            <a:pPr/>
            <a:r>
              <a:t>There are two main groups:</a:t>
            </a:r>
          </a:p>
          <a:p>
            <a:pPr/>
          </a:p>
          <a:p>
            <a:pPr/>
            <a:r>
              <a:t>Low level: Machine code</a:t>
            </a:r>
          </a:p>
          <a:p>
            <a:pPr/>
            <a:r>
              <a:t>High level: Python, C++, Java</a:t>
            </a:r>
          </a:p>
        </p:txBody>
      </p:sp>
      <p:grpSp>
        <p:nvGrpSpPr>
          <p:cNvPr id="182" name="images-1.jpeg"/>
          <p:cNvGrpSpPr/>
          <p:nvPr/>
        </p:nvGrpSpPr>
        <p:grpSpPr>
          <a:xfrm>
            <a:off x="15330535" y="3422650"/>
            <a:ext cx="7810501" cy="6870700"/>
            <a:chOff x="0" y="0"/>
            <a:chExt cx="7810500" cy="6870700"/>
          </a:xfrm>
        </p:grpSpPr>
        <p:pic>
          <p:nvPicPr>
            <p:cNvPr id="181" name="images-1.jpeg" descr="images-1.jpe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27000" y="88900"/>
              <a:ext cx="7556500" cy="65405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80" name="images-1.jpeg" descr="images-1.jpeg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7810500" cy="6870700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rogramming Paradigm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Programming Paradigms </a:t>
            </a:r>
          </a:p>
        </p:txBody>
      </p:sp>
      <p:sp>
        <p:nvSpPr>
          <p:cNvPr id="185" name="Programming paradigm is one of the ways of writing programs.…"/>
          <p:cNvSpPr txBox="1"/>
          <p:nvPr>
            <p:ph type="body" sz="half" idx="1"/>
          </p:nvPr>
        </p:nvSpPr>
        <p:spPr>
          <a:xfrm>
            <a:off x="1206500" y="2798969"/>
            <a:ext cx="11134894" cy="9705547"/>
          </a:xfrm>
          <a:prstGeom prst="rect">
            <a:avLst/>
          </a:prstGeom>
        </p:spPr>
        <p:txBody>
          <a:bodyPr/>
          <a:lstStyle/>
          <a:p>
            <a:pPr/>
            <a:r>
              <a:t>Programming paradigm is one of the ways of writing programs. </a:t>
            </a:r>
          </a:p>
          <a:p>
            <a:pPr/>
          </a:p>
          <a:p>
            <a:pPr/>
            <a:r>
              <a:t>Procedural - step by step instructions </a:t>
            </a:r>
          </a:p>
          <a:p>
            <a:pPr/>
            <a:r>
              <a:t>OOP - use objects and classes</a:t>
            </a:r>
          </a:p>
          <a:p>
            <a:pPr/>
            <a:r>
              <a:t>Functional - use functions for solving problems</a:t>
            </a:r>
          </a:p>
        </p:txBody>
      </p:sp>
      <p:pic>
        <p:nvPicPr>
          <p:cNvPr id="186" name="1683558992822.png" descr="1683558992822.png"/>
          <p:cNvPicPr>
            <a:picLocks noChangeAspect="1"/>
          </p:cNvPicPr>
          <p:nvPr/>
        </p:nvPicPr>
        <p:blipFill>
          <a:blip r:embed="rId2">
            <a:extLst/>
          </a:blip>
          <a:srcRect l="4963" t="0" r="3020" b="0"/>
          <a:stretch>
            <a:fillRect/>
          </a:stretch>
        </p:blipFill>
        <p:spPr>
          <a:xfrm>
            <a:off x="13817672" y="4334255"/>
            <a:ext cx="10201900" cy="504749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What is OOP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OOP?</a:t>
            </a:r>
          </a:p>
        </p:txBody>
      </p:sp>
      <p:sp>
        <p:nvSpPr>
          <p:cNvPr id="189" name="Object-Oriented Programming (OOP) is another way to write programs, which use objects and classes…"/>
          <p:cNvSpPr txBox="1"/>
          <p:nvPr>
            <p:ph type="body" sz="half" idx="1"/>
          </p:nvPr>
        </p:nvSpPr>
        <p:spPr>
          <a:xfrm>
            <a:off x="1206500" y="2526612"/>
            <a:ext cx="10774572" cy="9977904"/>
          </a:xfrm>
          <a:prstGeom prst="rect">
            <a:avLst/>
          </a:prstGeom>
        </p:spPr>
        <p:txBody>
          <a:bodyPr/>
          <a:lstStyle/>
          <a:p>
            <a:pPr/>
            <a:r>
              <a:rPr b="1" i="1"/>
              <a:t>Object-Oriented Programming </a:t>
            </a:r>
            <a:r>
              <a:rPr i="1"/>
              <a:t>(OOP</a:t>
            </a:r>
            <a:r>
              <a:t>)</a:t>
            </a:r>
            <a:r>
              <a:rPr b="1"/>
              <a:t> </a:t>
            </a:r>
            <a:r>
              <a:t>is another way to write programs, which use </a:t>
            </a:r>
            <a:r>
              <a:rPr u="sng"/>
              <a:t>objects and classes</a:t>
            </a:r>
            <a:endParaRPr u="sng"/>
          </a:p>
          <a:p>
            <a:pPr/>
            <a:endParaRPr u="sng"/>
          </a:p>
          <a:p>
            <a:pPr/>
            <a:r>
              <a:t>Class - blueprint</a:t>
            </a:r>
          </a:p>
          <a:p>
            <a:pPr/>
            <a:r>
              <a:t>Object - an example of class</a:t>
            </a:r>
          </a:p>
          <a:p>
            <a:pPr/>
            <a:r>
              <a:t>Attributes - information about object</a:t>
            </a:r>
          </a:p>
          <a:p>
            <a:pPr/>
            <a:r>
              <a:t>Methods - actions an objects can do</a:t>
            </a:r>
          </a:p>
        </p:txBody>
      </p:sp>
      <p:pic>
        <p:nvPicPr>
          <p:cNvPr id="190" name="images-1.png" descr="images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28509" y="2456981"/>
            <a:ext cx="8802039" cy="88020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he four principles of OO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four principles of OOP</a:t>
            </a:r>
          </a:p>
        </p:txBody>
      </p:sp>
      <p:sp>
        <p:nvSpPr>
          <p:cNvPr id="193" name="Encapsulation — keeping data safe…"/>
          <p:cNvSpPr txBox="1"/>
          <p:nvPr>
            <p:ph type="body" sz="half" idx="1"/>
          </p:nvPr>
        </p:nvSpPr>
        <p:spPr>
          <a:xfrm>
            <a:off x="1206500" y="2788361"/>
            <a:ext cx="11512357" cy="9716155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200"/>
            </a:pPr>
            <a:r>
              <a:t>  </a:t>
            </a:r>
            <a:r>
              <a:rPr b="1"/>
              <a:t>Encapsulation</a:t>
            </a:r>
            <a:r>
              <a:t> — keeping data safe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2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200"/>
            </a:pPr>
            <a:r>
              <a:t>• </a:t>
            </a:r>
            <a:r>
              <a:rPr b="1"/>
              <a:t>Abstraction</a:t>
            </a:r>
            <a:r>
              <a:t> — hiding unnecessary details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2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200"/>
            </a:pPr>
            <a:r>
              <a:t>• </a:t>
            </a:r>
            <a:r>
              <a:rPr b="1"/>
              <a:t>Inheritance</a:t>
            </a:r>
            <a:r>
              <a:t> — reusing code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2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200"/>
            </a:pPr>
            <a:r>
              <a:t>• </a:t>
            </a:r>
            <a:r>
              <a:rPr b="1"/>
              <a:t>Polymorphism</a:t>
            </a:r>
            <a:r>
              <a:t> — one method, different behaviours</a:t>
            </a:r>
          </a:p>
        </p:txBody>
      </p:sp>
      <p:pic>
        <p:nvPicPr>
          <p:cNvPr id="194" name="images.png" descr="image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089864" y="3096789"/>
            <a:ext cx="7522422" cy="7522422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Encapsulation &amp; Abstra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2700">
              <a:lnSpc>
                <a:spcPct val="1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7000"/>
            </a:lvl1pPr>
          </a:lstStyle>
          <a:p>
            <a:pPr/>
            <a:r>
              <a:t>Encapsulation &amp; Abstraction</a:t>
            </a:r>
          </a:p>
        </p:txBody>
      </p:sp>
      <p:sp>
        <p:nvSpPr>
          <p:cNvPr id="197" name="Encapsulation…"/>
          <p:cNvSpPr txBox="1"/>
          <p:nvPr>
            <p:ph type="body" sz="half" idx="1"/>
          </p:nvPr>
        </p:nvSpPr>
        <p:spPr>
          <a:xfrm>
            <a:off x="1206500" y="2712336"/>
            <a:ext cx="11977093" cy="9792180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5000"/>
            </a:pPr>
            <a:r>
              <a:t>Encapsulation</a:t>
            </a:r>
            <a:endParaRPr b="0"/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• Keep data inside the object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• Protect the data from outside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5000"/>
            </a:pPr>
            <a:r>
              <a:t>Abstraction</a:t>
            </a:r>
            <a:endParaRPr b="0"/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• Hide complicated stuff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• Show only important things</a:t>
            </a:r>
          </a:p>
        </p:txBody>
      </p:sp>
      <p:pic>
        <p:nvPicPr>
          <p:cNvPr id="198" name="images-2.jpeg" descr="images-2.jpeg"/>
          <p:cNvPicPr>
            <a:picLocks noChangeAspect="1"/>
          </p:cNvPicPr>
          <p:nvPr/>
        </p:nvPicPr>
        <p:blipFill>
          <a:blip r:embed="rId2">
            <a:extLst/>
          </a:blip>
          <a:srcRect l="0" t="0" r="0" b="3093"/>
          <a:stretch>
            <a:fillRect/>
          </a:stretch>
        </p:blipFill>
        <p:spPr>
          <a:xfrm>
            <a:off x="14427556" y="3433826"/>
            <a:ext cx="9741723" cy="66364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Inheritance &amp; Polymorphis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2700">
              <a:lnSpc>
                <a:spcPct val="1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7000"/>
            </a:lvl1pPr>
          </a:lstStyle>
          <a:p>
            <a:pPr/>
            <a:r>
              <a:t>Inheritance &amp; Polymorphism</a:t>
            </a:r>
          </a:p>
        </p:txBody>
      </p:sp>
      <p:sp>
        <p:nvSpPr>
          <p:cNvPr id="201" name="Inheritance…"/>
          <p:cNvSpPr txBox="1"/>
          <p:nvPr>
            <p:ph type="body" sz="half" idx="1"/>
          </p:nvPr>
        </p:nvSpPr>
        <p:spPr>
          <a:xfrm>
            <a:off x="1206500" y="3096692"/>
            <a:ext cx="11939120" cy="9407824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5000"/>
            </a:pPr>
            <a:r>
              <a:t>Inheritance</a:t>
            </a:r>
            <a:endParaRPr b="0"/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• One class can use things from another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• Saves time and code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5000"/>
            </a:pPr>
            <a:r>
              <a:t>Polymorphism</a:t>
            </a:r>
            <a:endParaRPr b="0"/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• Same method, different result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• Depends on the object</a:t>
            </a:r>
          </a:p>
        </p:txBody>
      </p:sp>
      <p:pic>
        <p:nvPicPr>
          <p:cNvPr id="202" name="images-3.jpeg" descr="images-3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46200" y="4587351"/>
            <a:ext cx="9552384" cy="45412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rocedural vs OO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2700">
              <a:lnSpc>
                <a:spcPct val="1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7000"/>
            </a:lvl1pPr>
          </a:lstStyle>
          <a:p>
            <a:pPr/>
            <a:r>
              <a:t>Procedural vs OOP</a:t>
            </a:r>
          </a:p>
        </p:txBody>
      </p:sp>
      <p:sp>
        <p:nvSpPr>
          <p:cNvPr id="205" name="Procedural…"/>
          <p:cNvSpPr txBox="1"/>
          <p:nvPr>
            <p:ph type="body" sz="half" idx="1"/>
          </p:nvPr>
        </p:nvSpPr>
        <p:spPr>
          <a:xfrm>
            <a:off x="1206500" y="2874722"/>
            <a:ext cx="11236913" cy="9629794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5000"/>
            </a:pPr>
            <a:r>
              <a:t>Procedural</a:t>
            </a:r>
            <a:endParaRPr b="0"/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• Code goes step by step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• Focus on functions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• Good for smaller programs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5000"/>
            </a:pPr>
            <a:r>
              <a:t>OOP</a:t>
            </a:r>
            <a:endParaRPr b="0"/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• Uses classes and objects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• Code can be reused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• Easier to organise bigger programs</a:t>
            </a:r>
          </a:p>
        </p:txBody>
      </p:sp>
      <p:pic>
        <p:nvPicPr>
          <p:cNvPr id="206" name="images-4.jpeg" descr="images-4.jpeg"/>
          <p:cNvPicPr>
            <a:picLocks noChangeAspect="1"/>
          </p:cNvPicPr>
          <p:nvPr/>
        </p:nvPicPr>
        <p:blipFill>
          <a:blip r:embed="rId2">
            <a:extLst/>
          </a:blip>
          <a:srcRect l="0" t="0" r="0" b="12034"/>
          <a:stretch>
            <a:fillRect/>
          </a:stretch>
        </p:blipFill>
        <p:spPr>
          <a:xfrm>
            <a:off x="13166976" y="4105568"/>
            <a:ext cx="11236913" cy="55048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History of pyth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History of python </a:t>
            </a:r>
          </a:p>
        </p:txBody>
      </p:sp>
      <p:sp>
        <p:nvSpPr>
          <p:cNvPr id="209" name="989…"/>
          <p:cNvSpPr txBox="1"/>
          <p:nvPr>
            <p:ph type="body" sz="half" idx="1"/>
          </p:nvPr>
        </p:nvSpPr>
        <p:spPr>
          <a:xfrm>
            <a:off x="1206500" y="3003960"/>
            <a:ext cx="11430350" cy="9500556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266700" algn="l"/>
                <a:tab pos="546100" algn="l"/>
                <a:tab pos="825500" algn="l"/>
                <a:tab pos="1104900" algn="l"/>
                <a:tab pos="1384300" algn="l"/>
                <a:tab pos="1663700" algn="l"/>
                <a:tab pos="1930400" algn="l"/>
                <a:tab pos="2209800" algn="l"/>
                <a:tab pos="2489200" algn="l"/>
                <a:tab pos="2768600" algn="l"/>
                <a:tab pos="3048000" algn="l"/>
                <a:tab pos="3327400" algn="l"/>
              </a:tabLst>
              <a:defRPr sz="3900"/>
            </a:pPr>
            <a:r>
              <a:t>989</a:t>
            </a: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266700" algn="l"/>
                <a:tab pos="546100" algn="l"/>
                <a:tab pos="825500" algn="l"/>
                <a:tab pos="1104900" algn="l"/>
                <a:tab pos="1384300" algn="l"/>
                <a:tab pos="1663700" algn="l"/>
                <a:tab pos="1930400" algn="l"/>
                <a:tab pos="2209800" algn="l"/>
                <a:tab pos="2489200" algn="l"/>
                <a:tab pos="2768600" algn="l"/>
                <a:tab pos="3048000" algn="l"/>
                <a:tab pos="3327400" algn="l"/>
              </a:tabLst>
              <a:defRPr sz="3900"/>
            </a:pPr>
            <a:r>
              <a:t>Guido started making Python</a:t>
            </a: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266700" algn="l"/>
                <a:tab pos="546100" algn="l"/>
                <a:tab pos="825500" algn="l"/>
                <a:tab pos="1104900" algn="l"/>
                <a:tab pos="1384300" algn="l"/>
                <a:tab pos="1663700" algn="l"/>
                <a:tab pos="1930400" algn="l"/>
                <a:tab pos="2209800" algn="l"/>
                <a:tab pos="2489200" algn="l"/>
                <a:tab pos="2768600" algn="l"/>
                <a:tab pos="3048000" algn="l"/>
                <a:tab pos="3327400" algn="l"/>
              </a:tabLst>
              <a:defRPr sz="3900"/>
            </a:pP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266700" algn="l"/>
                <a:tab pos="546100" algn="l"/>
                <a:tab pos="825500" algn="l"/>
                <a:tab pos="1104900" algn="l"/>
                <a:tab pos="1384300" algn="l"/>
                <a:tab pos="1663700" algn="l"/>
                <a:tab pos="1930400" algn="l"/>
                <a:tab pos="2209800" algn="l"/>
                <a:tab pos="2489200" algn="l"/>
                <a:tab pos="2768600" algn="l"/>
                <a:tab pos="3048000" algn="l"/>
                <a:tab pos="3327400" algn="l"/>
              </a:tabLst>
              <a:defRPr sz="3900"/>
            </a:pPr>
            <a:r>
              <a:t>1991</a:t>
            </a: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266700" algn="l"/>
                <a:tab pos="546100" algn="l"/>
                <a:tab pos="825500" algn="l"/>
                <a:tab pos="1104900" algn="l"/>
                <a:tab pos="1384300" algn="l"/>
                <a:tab pos="1663700" algn="l"/>
                <a:tab pos="1930400" algn="l"/>
                <a:tab pos="2209800" algn="l"/>
                <a:tab pos="2489200" algn="l"/>
                <a:tab pos="2768600" algn="l"/>
                <a:tab pos="3048000" algn="l"/>
                <a:tab pos="3327400" algn="l"/>
              </a:tabLst>
              <a:defRPr sz="3900"/>
            </a:pPr>
            <a:r>
              <a:t>Python was released</a:t>
            </a: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266700" algn="l"/>
                <a:tab pos="546100" algn="l"/>
                <a:tab pos="825500" algn="l"/>
                <a:tab pos="1104900" algn="l"/>
                <a:tab pos="1384300" algn="l"/>
                <a:tab pos="1663700" algn="l"/>
                <a:tab pos="1930400" algn="l"/>
                <a:tab pos="2209800" algn="l"/>
                <a:tab pos="2489200" algn="l"/>
                <a:tab pos="2768600" algn="l"/>
                <a:tab pos="3048000" algn="l"/>
                <a:tab pos="3327400" algn="l"/>
              </a:tabLst>
              <a:defRPr sz="3900"/>
            </a:pP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266700" algn="l"/>
                <a:tab pos="546100" algn="l"/>
                <a:tab pos="825500" algn="l"/>
                <a:tab pos="1104900" algn="l"/>
                <a:tab pos="1384300" algn="l"/>
                <a:tab pos="1663700" algn="l"/>
                <a:tab pos="1930400" algn="l"/>
                <a:tab pos="2209800" algn="l"/>
                <a:tab pos="2489200" algn="l"/>
                <a:tab pos="2768600" algn="l"/>
                <a:tab pos="3048000" algn="l"/>
                <a:tab pos="3327400" algn="l"/>
              </a:tabLst>
              <a:defRPr sz="3900"/>
            </a:pPr>
            <a:r>
              <a:t>2000</a:t>
            </a: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266700" algn="l"/>
                <a:tab pos="546100" algn="l"/>
                <a:tab pos="825500" algn="l"/>
                <a:tab pos="1104900" algn="l"/>
                <a:tab pos="1384300" algn="l"/>
                <a:tab pos="1663700" algn="l"/>
                <a:tab pos="1930400" algn="l"/>
                <a:tab pos="2209800" algn="l"/>
                <a:tab pos="2489200" algn="l"/>
                <a:tab pos="2768600" algn="l"/>
                <a:tab pos="3048000" algn="l"/>
                <a:tab pos="3327400" algn="l"/>
              </a:tabLst>
              <a:defRPr sz="3900"/>
            </a:pPr>
            <a:r>
              <a:t>Python 2 came out</a:t>
            </a: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266700" algn="l"/>
                <a:tab pos="546100" algn="l"/>
                <a:tab pos="825500" algn="l"/>
                <a:tab pos="1104900" algn="l"/>
                <a:tab pos="1384300" algn="l"/>
                <a:tab pos="1663700" algn="l"/>
                <a:tab pos="1930400" algn="l"/>
                <a:tab pos="2209800" algn="l"/>
                <a:tab pos="2489200" algn="l"/>
                <a:tab pos="2768600" algn="l"/>
                <a:tab pos="3048000" algn="l"/>
                <a:tab pos="3327400" algn="l"/>
              </a:tabLst>
              <a:defRPr sz="3900"/>
            </a:pP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266700" algn="l"/>
                <a:tab pos="546100" algn="l"/>
                <a:tab pos="825500" algn="l"/>
                <a:tab pos="1104900" algn="l"/>
                <a:tab pos="1384300" algn="l"/>
                <a:tab pos="1663700" algn="l"/>
                <a:tab pos="1930400" algn="l"/>
                <a:tab pos="2209800" algn="l"/>
                <a:tab pos="2489200" algn="l"/>
                <a:tab pos="2768600" algn="l"/>
                <a:tab pos="3048000" algn="l"/>
                <a:tab pos="3327400" algn="l"/>
              </a:tabLst>
              <a:defRPr sz="3900"/>
            </a:pPr>
            <a:r>
              <a:t>2008</a:t>
            </a: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266700" algn="l"/>
                <a:tab pos="546100" algn="l"/>
                <a:tab pos="825500" algn="l"/>
                <a:tab pos="1104900" algn="l"/>
                <a:tab pos="1384300" algn="l"/>
                <a:tab pos="1663700" algn="l"/>
                <a:tab pos="1930400" algn="l"/>
                <a:tab pos="2209800" algn="l"/>
                <a:tab pos="2489200" algn="l"/>
                <a:tab pos="2768600" algn="l"/>
                <a:tab pos="3048000" algn="l"/>
                <a:tab pos="3327400" algn="l"/>
              </a:tabLst>
              <a:defRPr sz="3900"/>
            </a:pPr>
            <a:r>
              <a:t>Python 3 came out</a:t>
            </a: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266700" algn="l"/>
                <a:tab pos="546100" algn="l"/>
                <a:tab pos="825500" algn="l"/>
                <a:tab pos="1104900" algn="l"/>
                <a:tab pos="1384300" algn="l"/>
                <a:tab pos="1663700" algn="l"/>
                <a:tab pos="1930400" algn="l"/>
                <a:tab pos="2209800" algn="l"/>
                <a:tab pos="2489200" algn="l"/>
                <a:tab pos="2768600" algn="l"/>
                <a:tab pos="3048000" algn="l"/>
                <a:tab pos="3327400" algn="l"/>
              </a:tabLst>
              <a:defRPr sz="3900"/>
            </a:pP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266700" algn="l"/>
                <a:tab pos="546100" algn="l"/>
                <a:tab pos="825500" algn="l"/>
                <a:tab pos="1104900" algn="l"/>
                <a:tab pos="1384300" algn="l"/>
                <a:tab pos="1663700" algn="l"/>
                <a:tab pos="1930400" algn="l"/>
                <a:tab pos="2209800" algn="l"/>
                <a:tab pos="2489200" algn="l"/>
                <a:tab pos="2768600" algn="l"/>
                <a:tab pos="3048000" algn="l"/>
                <a:tab pos="3327400" algn="l"/>
              </a:tabLst>
              <a:defRPr sz="3900"/>
            </a:pPr>
            <a:r>
              <a:t>2020</a:t>
            </a: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266700" algn="l"/>
                <a:tab pos="546100" algn="l"/>
                <a:tab pos="825500" algn="l"/>
                <a:tab pos="1104900" algn="l"/>
                <a:tab pos="1384300" algn="l"/>
                <a:tab pos="1663700" algn="l"/>
                <a:tab pos="1930400" algn="l"/>
                <a:tab pos="2209800" algn="l"/>
                <a:tab pos="2489200" algn="l"/>
                <a:tab pos="2768600" algn="l"/>
                <a:tab pos="3048000" algn="l"/>
                <a:tab pos="3327400" algn="l"/>
              </a:tabLst>
              <a:defRPr sz="3900"/>
            </a:pPr>
            <a:r>
              <a:t>Python 2 stopped being supported</a:t>
            </a: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266700" algn="l"/>
                <a:tab pos="546100" algn="l"/>
                <a:tab pos="825500" algn="l"/>
                <a:tab pos="1104900" algn="l"/>
                <a:tab pos="1384300" algn="l"/>
                <a:tab pos="1663700" algn="l"/>
                <a:tab pos="1930400" algn="l"/>
                <a:tab pos="2209800" algn="l"/>
                <a:tab pos="2489200" algn="l"/>
                <a:tab pos="2768600" algn="l"/>
                <a:tab pos="3048000" algn="l"/>
                <a:tab pos="3327400" algn="l"/>
              </a:tabLst>
              <a:defRPr sz="3900"/>
            </a:pP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266700" algn="l"/>
                <a:tab pos="546100" algn="l"/>
                <a:tab pos="825500" algn="l"/>
                <a:tab pos="1104900" algn="l"/>
                <a:tab pos="1384300" algn="l"/>
                <a:tab pos="1663700" algn="l"/>
                <a:tab pos="1930400" algn="l"/>
                <a:tab pos="2209800" algn="l"/>
                <a:tab pos="2489200" algn="l"/>
                <a:tab pos="2768600" algn="l"/>
                <a:tab pos="3048000" algn="l"/>
                <a:tab pos="3327400" algn="l"/>
              </a:tabLst>
              <a:defRPr sz="3900"/>
            </a:pPr>
            <a:r>
              <a:t>Today Python is used for AI, websites and data</a:t>
            </a:r>
          </a:p>
        </p:txBody>
      </p:sp>
      <p:pic>
        <p:nvPicPr>
          <p:cNvPr id="210" name="images-5.jpeg" descr="images-5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331473" y="4543116"/>
            <a:ext cx="6422243" cy="64222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Why Python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Python?</a:t>
            </a:r>
          </a:p>
        </p:txBody>
      </p:sp>
      <p:sp>
        <p:nvSpPr>
          <p:cNvPr id="213" name="Python is simple to learn…"/>
          <p:cNvSpPr txBox="1"/>
          <p:nvPr>
            <p:ph type="body" sz="half" idx="1"/>
          </p:nvPr>
        </p:nvSpPr>
        <p:spPr>
          <a:xfrm>
            <a:off x="1206500" y="3062285"/>
            <a:ext cx="11413146" cy="9442231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Python is simple to learn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The code is easy to read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It supports OOP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It has many useful libraries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It is used in AI and websites and data science</a:t>
            </a:r>
          </a:p>
        </p:txBody>
      </p:sp>
      <p:pic>
        <p:nvPicPr>
          <p:cNvPr id="214" name="images-2.png" descr="images-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579370" y="3992918"/>
            <a:ext cx="10210892" cy="57301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onclu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2700">
              <a:lnSpc>
                <a:spcPct val="1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7000"/>
            </a:lvl1pPr>
          </a:lstStyle>
          <a:p>
            <a:pPr/>
            <a:r>
              <a:t>Conclusion</a:t>
            </a:r>
          </a:p>
        </p:txBody>
      </p:sp>
      <p:sp>
        <p:nvSpPr>
          <p:cNvPr id="217" name="Programming helps us solve problems…"/>
          <p:cNvSpPr txBox="1"/>
          <p:nvPr>
            <p:ph type="body" idx="1"/>
          </p:nvPr>
        </p:nvSpPr>
        <p:spPr>
          <a:xfrm>
            <a:off x="1206500" y="2752198"/>
            <a:ext cx="21971000" cy="9752318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Programming helps us solve problems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OOP uses classes and objects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The four main principles are Encapsulation, Abstraction, Inheritance and Polymorphism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  <a:r>
              <a:t>Python is simple, flexible and widely used</a:t>
            </a: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/>
            </a:p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5000"/>
            </a:pPr>
            <a:r>
              <a:t>Thank you!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