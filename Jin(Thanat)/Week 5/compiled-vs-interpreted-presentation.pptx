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AD3C8-CB63-FDAC-EDBB-3E6664B9F780}" v="62" dt="2026-10-13T12:14:51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at Phueakprakhong" userId="S::zw26213@bristol.ac.uk::8dda4dbb-396c-4192-9a80-6b6cebbdd4e8" providerId="AD" clId="Web-{BCCAD3C8-CB63-FDAC-EDBB-3E6664B9F780}"/>
    <pc:docChg chg="modSld">
      <pc:chgData name="Thanat Phueakprakhong" userId="S::zw26213@bristol.ac.uk::8dda4dbb-396c-4192-9a80-6b6cebbdd4e8" providerId="AD" clId="Web-{BCCAD3C8-CB63-FDAC-EDBB-3E6664B9F780}" dt="2026-10-13T12:14:51.187" v="61" actId="1076"/>
      <pc:docMkLst>
        <pc:docMk/>
      </pc:docMkLst>
      <pc:sldChg chg="addSp delSp modSp">
        <pc:chgData name="Thanat Phueakprakhong" userId="S::zw26213@bristol.ac.uk::8dda4dbb-396c-4192-9a80-6b6cebbdd4e8" providerId="AD" clId="Web-{BCCAD3C8-CB63-FDAC-EDBB-3E6664B9F780}" dt="2026-10-13T12:14:30.155" v="58" actId="20577"/>
        <pc:sldMkLst>
          <pc:docMk/>
          <pc:sldMk cId="8181650" sldId="256"/>
        </pc:sldMkLst>
        <pc:spChg chg="mod">
          <ac:chgData name="Thanat Phueakprakhong" userId="S::zw26213@bristol.ac.uk::8dda4dbb-396c-4192-9a80-6b6cebbdd4e8" providerId="AD" clId="Web-{BCCAD3C8-CB63-FDAC-EDBB-3E6664B9F780}" dt="2026-10-13T12:13:49.732" v="7" actId="20577"/>
          <ac:spMkLst>
            <pc:docMk/>
            <pc:sldMk cId="8181650" sldId="256"/>
            <ac:spMk id="4" creationId="{20CB7424-C68F-47C7-9BEE-80E3EFD624B9}"/>
          </ac:spMkLst>
        </pc:spChg>
        <pc:spChg chg="add del mod">
          <ac:chgData name="Thanat Phueakprakhong" userId="S::zw26213@bristol.ac.uk::8dda4dbb-396c-4192-9a80-6b6cebbdd4e8" providerId="AD" clId="Web-{BCCAD3C8-CB63-FDAC-EDBB-3E6664B9F780}" dt="2026-10-13T12:13:59.341" v="15"/>
          <ac:spMkLst>
            <pc:docMk/>
            <pc:sldMk cId="8181650" sldId="256"/>
            <ac:spMk id="6" creationId="{2D17A7B4-EEFF-23C8-961E-7C3DD22ECAF1}"/>
          </ac:spMkLst>
        </pc:spChg>
        <pc:spChg chg="add mod">
          <ac:chgData name="Thanat Phueakprakhong" userId="S::zw26213@bristol.ac.uk::8dda4dbb-396c-4192-9a80-6b6cebbdd4e8" providerId="AD" clId="Web-{BCCAD3C8-CB63-FDAC-EDBB-3E6664B9F780}" dt="2026-10-13T12:14:30.155" v="58" actId="20577"/>
          <ac:spMkLst>
            <pc:docMk/>
            <pc:sldMk cId="8181650" sldId="256"/>
            <ac:spMk id="7" creationId="{B6784E50-F834-04C0-7ADE-8B52EF638913}"/>
          </ac:spMkLst>
        </pc:spChg>
        <pc:picChg chg="mod">
          <ac:chgData name="Thanat Phueakprakhong" userId="S::zw26213@bristol.ac.uk::8dda4dbb-396c-4192-9a80-6b6cebbdd4e8" providerId="AD" clId="Web-{BCCAD3C8-CB63-FDAC-EDBB-3E6664B9F780}" dt="2026-10-13T12:14:03.670" v="18" actId="1076"/>
          <ac:picMkLst>
            <pc:docMk/>
            <pc:sldMk cId="8181650" sldId="256"/>
            <ac:picMk id="5" creationId="{EB677790-A549-46B9-8AA3-481940AC9E61}"/>
          </ac:picMkLst>
        </pc:picChg>
      </pc:sldChg>
      <pc:sldChg chg="modSp">
        <pc:chgData name="Thanat Phueakprakhong" userId="S::zw26213@bristol.ac.uk::8dda4dbb-396c-4192-9a80-6b6cebbdd4e8" providerId="AD" clId="Web-{BCCAD3C8-CB63-FDAC-EDBB-3E6664B9F780}" dt="2026-10-13T12:14:51.187" v="61" actId="1076"/>
        <pc:sldMkLst>
          <pc:docMk/>
          <pc:sldMk cId="873128101" sldId="258"/>
        </pc:sldMkLst>
        <pc:spChg chg="mod">
          <ac:chgData name="Thanat Phueakprakhong" userId="S::zw26213@bristol.ac.uk::8dda4dbb-396c-4192-9a80-6b6cebbdd4e8" providerId="AD" clId="Web-{BCCAD3C8-CB63-FDAC-EDBB-3E6664B9F780}" dt="2026-10-13T12:14:51.156" v="59" actId="1076"/>
          <ac:spMkLst>
            <pc:docMk/>
            <pc:sldMk cId="873128101" sldId="258"/>
            <ac:spMk id="5" creationId="{66EA478A-44E3-4E18-B238-CBDF1B546B46}"/>
          </ac:spMkLst>
        </pc:spChg>
        <pc:spChg chg="mod">
          <ac:chgData name="Thanat Phueakprakhong" userId="S::zw26213@bristol.ac.uk::8dda4dbb-396c-4192-9a80-6b6cebbdd4e8" providerId="AD" clId="Web-{BCCAD3C8-CB63-FDAC-EDBB-3E6664B9F780}" dt="2026-10-13T12:14:51.171" v="60" actId="1076"/>
          <ac:spMkLst>
            <pc:docMk/>
            <pc:sldMk cId="873128101" sldId="258"/>
            <ac:spMk id="8" creationId="{1119142A-4B92-4F44-A47F-8EA7DF51E40D}"/>
          </ac:spMkLst>
        </pc:spChg>
        <pc:spChg chg="mod">
          <ac:chgData name="Thanat Phueakprakhong" userId="S::zw26213@bristol.ac.uk::8dda4dbb-396c-4192-9a80-6b6cebbdd4e8" providerId="AD" clId="Web-{BCCAD3C8-CB63-FDAC-EDBB-3E6664B9F780}" dt="2026-10-13T12:14:51.187" v="61" actId="1076"/>
          <ac:spMkLst>
            <pc:docMk/>
            <pc:sldMk cId="873128101" sldId="258"/>
            <ac:spMk id="11" creationId="{0E1212CB-B2B7-4405-A369-4DF9D2A1F9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Today we are explaining how source code is turned into instructions a computer can run.</a:t>
            </a:r>
          </a:p>
          <a:p>
            <a:r>
              <a:t>Our focus is the difference between compiling code before launch and processing it through a runtime while 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simple distinction: one approach does more translation before launch; another relies on a runtime during execution.</a:t>
            </a:r>
          </a:p>
          <a:p>
            <a:r>
              <a:t>These are useful models, not strict labels for every language. Python documentation says the interpreted-versus-compiled distinction can be blurry because CPython compiles source into bytecode.</a:t>
            </a:r>
          </a:p>
          <a:p>
            <a:r>
              <a:t>Source: https://docs.python.org/3/glossary.html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right. The compiler handles translation before the program is launched; the output can be native code or another form such as bytecode, depending on the language.</a:t>
            </a:r>
          </a:p>
          <a:p>
            <a:r>
              <a:t>Go example: the official Go tutorial says go build compiles packages and produces an executable.</a:t>
            </a:r>
          </a:p>
          <a:p>
            <a:r>
              <a:t>Source: https://go.dev/doc/tutorial/compile-install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this as a simplified runtime model. An interpreter does not always read raw source one line at a time; it may first parse the source or execute bytecode.</a:t>
            </a:r>
          </a:p>
          <a:p>
            <a:r>
              <a:t>In CPython, source code is compiled into bytecode that the Python virtual machine executes. Python files can still be run without manually creating a separate executable.</a:t>
            </a:r>
          </a:p>
          <a:p>
            <a:r>
              <a:t>Sources: https://docs.python.org/3/glossary.html and https://docs.python.org/3/library/py_compile.html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examples to correct the idea that each language uses only one method.</a:t>
            </a:r>
          </a:p>
          <a:p>
            <a:r>
              <a:t>Go’s build tool produces an executable. In CPython, source is compiled to bytecode and executed by a virtual machine. Java source is compiled to class files containing JVM bytecode; some JVMs also compile frequently used code to native machine code at runtime.</a:t>
            </a:r>
          </a:p>
          <a:p>
            <a:r>
              <a:t>Sources: https://go.dev/doc/tutorial/compile-install ; https://docs.python.org/3/glossary.html ; https://docs.oracle.com/javase/tutorial/getStarted/intro/definition.html ; https://docs.oracle.com/en/graalvm/jdk/25/docs/reference-manual/java/compiler/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the rows, but repeat that these are typical tendencies rather than hard rules. Actual speed depends on implementation, workload, and optimization.</a:t>
            </a:r>
          </a:p>
          <a:p>
            <a:r>
              <a:t>Java is a useful example: bytecode can run on a JVM, and a just-in-time compiler can convert frequently used code into native machine code.</a:t>
            </a:r>
          </a:p>
          <a:p>
            <a:r>
              <a:t>Source: https://docs.oracle.com/en/graalvm/jdk/25/docs/reference-manual/java/compiler/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Closing: If you remember one thing, remember that the distinction is about the execution pipeline, especially when translation happens.</a:t>
            </a:r>
          </a:p>
          <a:p>
            <a:r>
              <a:t>Ask the audience: What happens between the source code and the running program?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official references support the language examples and the explanation that language implementations can combine compilation and runtime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8E46C54-F08C-4ADB-BBE5-1FBB42DF2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D12CF07-6AE7-48AD-A8A6-57E2B9564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DF31FE5-517C-468C-A4D1-92C2AB6E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50B0E86-0974-457B-8287-16AD9C1F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F71E925-9631-4D9D-9AAB-4FD030692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016979-1DAD-42B7-A92B-F8D5C8BD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DCF74FF-D3DE-4784-8E20-79C91E1CE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22A803A-18C2-40F4-A2FA-05047513C4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C7CA1AA-A1B1-48CD-9EAA-67E549FB9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A507307-B2AA-4ABD-A34B-ACFB95C05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77790-A549-46B9-8AA3-481940AC9E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title">
            <a:extLst>
              <a:ext uri="{FF2B5EF4-FFF2-40B4-BE49-F238E27FC236}">
                <a16:creationId xmlns:a16="http://schemas.microsoft.com/office/drawing/2014/main" id="{100F100F-F752-417E-A8F5-E2E42F3D7A1D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57150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8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Compiled vs</a:t>
            </a:r>
          </a:p>
          <a:p>
            <a:pPr algn="l">
              <a:lnSpc>
                <a:spcPct val="8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Interpreted</a:t>
            </a:r>
          </a:p>
          <a:p>
            <a:pPr algn="l">
              <a:lnSpc>
                <a:spcPct val="8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Languages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4EA343D1-3358-4B2B-8B15-CFB732F2FA33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542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>
                <a:solidFill>
                  <a:srgbClr val="D3E2F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D3E2F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D3E2F7"/>
                </a:solidFill>
                <a:latin typeface="Arial"/>
                <a:ea typeface="Arial"/>
                <a:cs typeface="Arial"/>
              </a:rPr>
              <a:t>How source code becomes a running program</a:t>
            </a:r>
          </a:p>
        </p:txBody>
      </p:sp>
      <p:sp>
        <p:nvSpPr>
          <p:cNvPr id="4" name="cover-label">
            <a:extLst>
              <a:ext uri="{FF2B5EF4-FFF2-40B4-BE49-F238E27FC236}">
                <a16:creationId xmlns:a16="http://schemas.microsoft.com/office/drawing/2014/main" id="{20CB7424-C68F-47C7-9BEE-80E3EFD624B9}"/>
              </a:ext>
            </a:extLst>
          </p:cNvPr>
          <p:cNvSpPr>
            <a:spLocks noGrp="1"/>
          </p:cNvSpPr>
          <p:nvPr/>
        </p:nvSpPr>
        <p:spPr>
          <a:xfrm>
            <a:off x="819150" y="54673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8CC9F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8CC9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C9F5"/>
                </a:solidFill>
                <a:latin typeface="Arial"/>
                <a:ea typeface="Arial"/>
                <a:cs typeface="Arial"/>
              </a:rPr>
              <a:t>GROUP PRESENTATION</a:t>
            </a:r>
            <a:endParaRPr lang="en-US"/>
          </a:p>
        </p:txBody>
      </p:sp>
      <p:sp>
        <p:nvSpPr>
          <p:cNvPr id="7" name="cover-label">
            <a:extLst>
              <a:ext uri="{FF2B5EF4-FFF2-40B4-BE49-F238E27FC236}">
                <a16:creationId xmlns:a16="http://schemas.microsoft.com/office/drawing/2014/main" id="{B6784E50-F834-04C0-7ADE-8B52EF638913}"/>
              </a:ext>
            </a:extLst>
          </p:cNvPr>
          <p:cNvSpPr>
            <a:spLocks noGrp="1"/>
          </p:cNvSpPr>
          <p:nvPr/>
        </p:nvSpPr>
        <p:spPr>
          <a:xfrm>
            <a:off x="819149" y="582001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8CC9F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1">
                <a:solidFill>
                  <a:srgbClr val="8CC9F5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ALP, JAMES, MATT, JIN, MUSTAFA</a:t>
            </a:r>
          </a:p>
        </p:txBody>
      </p:sp>
    </p:spTree>
    <p:extLst>
      <p:ext uri="{BB962C8B-B14F-4D97-AF65-F5344CB8AC3E}">
        <p14:creationId xmlns:p14="http://schemas.microsoft.com/office/powerpoint/2010/main" val="8181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E4CFEE39-1623-44AB-92F9-6AAFDFDA3C52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Two execution models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E656F20-55F5-4528-B527-16EC989ADF1A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27A"/>
                </a:solidFill>
                <a:latin typeface="Arial"/>
                <a:ea typeface="Arial"/>
                <a:cs typeface="Arial"/>
              </a:rPr>
              <a:t>The key difference is when translation happens.</a:t>
            </a:r>
          </a:p>
        </p:txBody>
      </p:sp>
      <p:sp>
        <p:nvSpPr>
          <p:cNvPr id="3" name="compile-label">
            <a:extLst>
              <a:ext uri="{FF2B5EF4-FFF2-40B4-BE49-F238E27FC236}">
                <a16:creationId xmlns:a16="http://schemas.microsoft.com/office/drawing/2014/main" id="{A5080D3B-E4A9-409D-B3AE-7128DBD6943B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COMPILE FIRST</a:t>
            </a:r>
          </a:p>
        </p:txBody>
      </p:sp>
      <p:sp>
        <p:nvSpPr>
          <p:cNvPr id="4" name="compile-desc">
            <a:extLst>
              <a:ext uri="{FF2B5EF4-FFF2-40B4-BE49-F238E27FC236}">
                <a16:creationId xmlns:a16="http://schemas.microsoft.com/office/drawing/2014/main" id="{3721F645-60FD-47CC-B1D5-35851CC557F5}"/>
              </a:ext>
            </a:extLst>
          </p:cNvPr>
          <p:cNvSpPr>
            <a:spLocks noGrp="1"/>
          </p:cNvSpPr>
          <p:nvPr/>
        </p:nvSpPr>
        <p:spPr>
          <a:xfrm>
            <a:off x="781050" y="2371725"/>
            <a:ext cx="333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Prepare translated output before the program starts.</a:t>
            </a:r>
          </a:p>
        </p:txBody>
      </p:sp>
      <p:sp>
        <p:nvSpPr>
          <p:cNvPr id="5" name="runtime-label">
            <a:extLst>
              <a:ext uri="{FF2B5EF4-FFF2-40B4-BE49-F238E27FC236}">
                <a16:creationId xmlns:a16="http://schemas.microsoft.com/office/drawing/2014/main" id="{7BC3BED5-7E7A-4442-89DD-487DB7DD961E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INTERPRET AT RUNTIME</a:t>
            </a:r>
          </a:p>
        </p:txBody>
      </p:sp>
      <p:sp>
        <p:nvSpPr>
          <p:cNvPr id="6" name="runtime-desc">
            <a:extLst>
              <a:ext uri="{FF2B5EF4-FFF2-40B4-BE49-F238E27FC236}">
                <a16:creationId xmlns:a16="http://schemas.microsoft.com/office/drawing/2014/main" id="{C2FABFAF-55D2-484D-AE06-358C78178674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Process instructions through a runtime as the program runs.</a:t>
            </a:r>
          </a:p>
        </p:txBody>
      </p:sp>
      <p:sp>
        <p:nvSpPr>
          <p:cNvPr id="7" name="reality-check">
            <a:extLst>
              <a:ext uri="{FF2B5EF4-FFF2-40B4-BE49-F238E27FC236}">
                <a16:creationId xmlns:a16="http://schemas.microsoft.com/office/drawing/2014/main" id="{C149591E-915E-486B-A08E-AB60D525F23E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Most modern runtimes combine stages.</a:t>
            </a:r>
          </a:p>
        </p:txBody>
      </p:sp>
      <p:sp>
        <p:nvSpPr>
          <p:cNvPr id="8" name="build-image-label">
            <a:extLst>
              <a:ext uri="{FF2B5EF4-FFF2-40B4-BE49-F238E27FC236}">
                <a16:creationId xmlns:a16="http://schemas.microsoft.com/office/drawing/2014/main" id="{E1F59883-EA03-4A52-801C-84DFCC72D534}"/>
              </a:ext>
            </a:extLst>
          </p:cNvPr>
          <p:cNvSpPr>
            <a:spLocks noGrp="1"/>
          </p:cNvSpPr>
          <p:nvPr/>
        </p:nvSpPr>
        <p:spPr>
          <a:xfrm>
            <a:off x="5305425" y="16573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BEFORE LAUNCH</a:t>
            </a:r>
          </a:p>
        </p:txBody>
      </p:sp>
      <p:sp>
        <p:nvSpPr>
          <p:cNvPr id="9" name="runtime-image-label">
            <a:extLst>
              <a:ext uri="{FF2B5EF4-FFF2-40B4-BE49-F238E27FC236}">
                <a16:creationId xmlns:a16="http://schemas.microsoft.com/office/drawing/2014/main" id="{6537731B-AC81-4EFF-A053-7EBA4C27B866}"/>
              </a:ext>
            </a:extLst>
          </p:cNvPr>
          <p:cNvSpPr>
            <a:spLocks noGrp="1"/>
          </p:cNvSpPr>
          <p:nvPr/>
        </p:nvSpPr>
        <p:spPr>
          <a:xfrm>
            <a:off x="8763000" y="16573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DURING EXECUTION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E50DBB-92A0-4886-A7B5-DDED9D512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" r="5"/>
          <a:stretch>
            <a:fillRect/>
          </a:stretch>
        </p:blipFill>
        <p:spPr>
          <a:xfrm>
            <a:off x="4953000" y="2000250"/>
            <a:ext cx="6667500" cy="3752850"/>
          </a:xfrm>
          <a:prstGeom prst="rect">
            <a:avLst/>
          </a:prstGeom>
        </p:spPr>
      </p:pic>
      <p:sp>
        <p:nvSpPr>
          <p:cNvPr id="11" name="page-number">
            <a:extLst>
              <a:ext uri="{FF2B5EF4-FFF2-40B4-BE49-F238E27FC236}">
                <a16:creationId xmlns:a16="http://schemas.microsoft.com/office/drawing/2014/main" id="{3A6455E6-0279-4ECC-B81E-9BAA625C9B2D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B879A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72007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BE0D0FDA-B508-4FF3-9382-4ACFE9304E9E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Compiled before execution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04F462C-A139-443A-AEC3-6A766920A8DD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27A"/>
                </a:solidFill>
                <a:latin typeface="Arial"/>
                <a:ea typeface="Arial"/>
                <a:cs typeface="Arial"/>
              </a:rPr>
              <a:t>A compiler translates the program before its normal run.</a:t>
            </a:r>
          </a:p>
        </p:txBody>
      </p:sp>
      <p:sp>
        <p:nvSpPr>
          <p:cNvPr id="3" name="compile-step-0">
            <a:extLst>
              <a:ext uri="{FF2B5EF4-FFF2-40B4-BE49-F238E27FC236}">
                <a16:creationId xmlns:a16="http://schemas.microsoft.com/office/drawing/2014/main" id="{09A796B0-9416-4A9E-99E6-AABE901A4D37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01  SOURCE CODE</a:t>
            </a:r>
          </a:p>
        </p:txBody>
      </p:sp>
      <p:sp>
        <p:nvSpPr>
          <p:cNvPr id="4" name="compile-copy-0">
            <a:extLst>
              <a:ext uri="{FF2B5EF4-FFF2-40B4-BE49-F238E27FC236}">
                <a16:creationId xmlns:a16="http://schemas.microsoft.com/office/drawing/2014/main" id="{57C1357C-9711-4AB6-A78B-872BB39DB63C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The instructions</a:t>
            </a:r>
          </a:p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written by a programmer</a:t>
            </a:r>
          </a:p>
        </p:txBody>
      </p:sp>
      <p:sp>
        <p:nvSpPr>
          <p:cNvPr id="5" name="compile-arrow-0">
            <a:extLst>
              <a:ext uri="{FF2B5EF4-FFF2-40B4-BE49-F238E27FC236}">
                <a16:creationId xmlns:a16="http://schemas.microsoft.com/office/drawing/2014/main" id="{66EA478A-44E3-4E18-B238-CBDF1B546B46}"/>
              </a:ext>
            </a:extLst>
          </p:cNvPr>
          <p:cNvSpPr>
            <a:spLocks noGrp="1"/>
          </p:cNvSpPr>
          <p:nvPr/>
        </p:nvSpPr>
        <p:spPr>
          <a:xfrm>
            <a:off x="2884422" y="2753906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5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compile-step-1">
            <a:extLst>
              <a:ext uri="{FF2B5EF4-FFF2-40B4-BE49-F238E27FC236}">
                <a16:creationId xmlns:a16="http://schemas.microsoft.com/office/drawing/2014/main" id="{CD735A5D-61AD-4A11-B174-1088B74D7C9F}"/>
              </a:ext>
            </a:extLst>
          </p:cNvPr>
          <p:cNvSpPr>
            <a:spLocks noGrp="1"/>
          </p:cNvSpPr>
          <p:nvPr/>
        </p:nvSpPr>
        <p:spPr>
          <a:xfrm>
            <a:off x="3543300" y="213360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02  COMPILER</a:t>
            </a:r>
          </a:p>
        </p:txBody>
      </p:sp>
      <p:sp>
        <p:nvSpPr>
          <p:cNvPr id="7" name="compile-copy-1">
            <a:extLst>
              <a:ext uri="{FF2B5EF4-FFF2-40B4-BE49-F238E27FC236}">
                <a16:creationId xmlns:a16="http://schemas.microsoft.com/office/drawing/2014/main" id="{0F98D244-D10D-4A11-ADB5-C1266073073E}"/>
              </a:ext>
            </a:extLst>
          </p:cNvPr>
          <p:cNvSpPr>
            <a:spLocks noGrp="1"/>
          </p:cNvSpPr>
          <p:nvPr/>
        </p:nvSpPr>
        <p:spPr>
          <a:xfrm>
            <a:off x="3543300" y="268605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Translates the source</a:t>
            </a:r>
          </a:p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and may report build errors</a:t>
            </a:r>
          </a:p>
        </p:txBody>
      </p:sp>
      <p:sp>
        <p:nvSpPr>
          <p:cNvPr id="8" name="compile-arrow-1">
            <a:extLst>
              <a:ext uri="{FF2B5EF4-FFF2-40B4-BE49-F238E27FC236}">
                <a16:creationId xmlns:a16="http://schemas.microsoft.com/office/drawing/2014/main" id="{1119142A-4B92-4F44-A47F-8EA7DF51E40D}"/>
              </a:ext>
            </a:extLst>
          </p:cNvPr>
          <p:cNvSpPr>
            <a:spLocks noGrp="1"/>
          </p:cNvSpPr>
          <p:nvPr/>
        </p:nvSpPr>
        <p:spPr>
          <a:xfrm>
            <a:off x="5646672" y="2753906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5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compile-step-2">
            <a:extLst>
              <a:ext uri="{FF2B5EF4-FFF2-40B4-BE49-F238E27FC236}">
                <a16:creationId xmlns:a16="http://schemas.microsoft.com/office/drawing/2014/main" id="{73C764A6-1238-4FFA-BF2F-2B822A39BF39}"/>
              </a:ext>
            </a:extLst>
          </p:cNvPr>
          <p:cNvSpPr>
            <a:spLocks noGrp="1"/>
          </p:cNvSpPr>
          <p:nvPr/>
        </p:nvSpPr>
        <p:spPr>
          <a:xfrm>
            <a:off x="6305550" y="213360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03  OUTPUT</a:t>
            </a:r>
          </a:p>
        </p:txBody>
      </p:sp>
      <p:sp>
        <p:nvSpPr>
          <p:cNvPr id="10" name="compile-copy-2">
            <a:extLst>
              <a:ext uri="{FF2B5EF4-FFF2-40B4-BE49-F238E27FC236}">
                <a16:creationId xmlns:a16="http://schemas.microsoft.com/office/drawing/2014/main" id="{E0E9D4BC-73DE-43BE-905C-8923855F6D25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An executable or</a:t>
            </a:r>
          </a:p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an intermediate form</a:t>
            </a:r>
          </a:p>
        </p:txBody>
      </p:sp>
      <p:sp>
        <p:nvSpPr>
          <p:cNvPr id="11" name="compile-arrow-2">
            <a:extLst>
              <a:ext uri="{FF2B5EF4-FFF2-40B4-BE49-F238E27FC236}">
                <a16:creationId xmlns:a16="http://schemas.microsoft.com/office/drawing/2014/main" id="{0E1212CB-B2B7-4405-A369-4DF9D2A1F980}"/>
              </a:ext>
            </a:extLst>
          </p:cNvPr>
          <p:cNvSpPr>
            <a:spLocks noGrp="1"/>
          </p:cNvSpPr>
          <p:nvPr/>
        </p:nvSpPr>
        <p:spPr>
          <a:xfrm>
            <a:off x="8408922" y="2753906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5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compile-step-3">
            <a:extLst>
              <a:ext uri="{FF2B5EF4-FFF2-40B4-BE49-F238E27FC236}">
                <a16:creationId xmlns:a16="http://schemas.microsoft.com/office/drawing/2014/main" id="{227BE4D1-8184-43E5-ADA6-C8C5C950B3D1}"/>
              </a:ext>
            </a:extLst>
          </p:cNvPr>
          <p:cNvSpPr>
            <a:spLocks noGrp="1"/>
          </p:cNvSpPr>
          <p:nvPr/>
        </p:nvSpPr>
        <p:spPr>
          <a:xfrm>
            <a:off x="9067800" y="2133600"/>
            <a:ext cx="2238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04  RUN</a:t>
            </a:r>
          </a:p>
        </p:txBody>
      </p:sp>
      <p:sp>
        <p:nvSpPr>
          <p:cNvPr id="13" name="compile-copy-3">
            <a:extLst>
              <a:ext uri="{FF2B5EF4-FFF2-40B4-BE49-F238E27FC236}">
                <a16:creationId xmlns:a16="http://schemas.microsoft.com/office/drawing/2014/main" id="{E46E648C-0A2D-4999-AB3A-0CA5A492FFA6}"/>
              </a:ext>
            </a:extLst>
          </p:cNvPr>
          <p:cNvSpPr>
            <a:spLocks noGrp="1"/>
          </p:cNvSpPr>
          <p:nvPr/>
        </p:nvSpPr>
        <p:spPr>
          <a:xfrm>
            <a:off x="9067800" y="2686050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The computer starts</a:t>
            </a:r>
          </a:p>
          <a:p>
            <a:pPr algn="l">
              <a:lnSpc>
                <a:spcPct val="105000"/>
              </a:lnSpc>
              <a:buNone/>
              <a:defRPr sz="165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3B"/>
                </a:solidFill>
                <a:latin typeface="Arial"/>
                <a:ea typeface="Arial"/>
                <a:cs typeface="Arial"/>
              </a:rPr>
              <a:t>the translated program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B05937F-AD1F-47B3-805B-6FA6996A351D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10620375" cy="9525"/>
          </a:xfrm>
          <a:prstGeom prst="line">
            <a:avLst/>
          </a:prstGeom>
          <a:noFill/>
          <a:ln w="19050">
            <a:solidFill>
              <a:srgbClr val="CB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mpile-example-label">
            <a:extLst>
              <a:ext uri="{FF2B5EF4-FFF2-40B4-BE49-F238E27FC236}">
                <a16:creationId xmlns:a16="http://schemas.microsoft.com/office/drawing/2014/main" id="{5C28103E-A951-4A1C-9715-5FB424F027EA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6" name="compile-example">
            <a:extLst>
              <a:ext uri="{FF2B5EF4-FFF2-40B4-BE49-F238E27FC236}">
                <a16:creationId xmlns:a16="http://schemas.microsoft.com/office/drawing/2014/main" id="{8566428B-B2E7-4CA7-959B-95563E08722A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971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B1730"/>
                </a:solidFill>
                <a:latin typeface="Arial"/>
                <a:ea typeface="Arial"/>
                <a:cs typeface="Arial"/>
              </a:rPr>
              <a:t>Go’s “go build” command compiles a program into an executable.</a:t>
            </a:r>
          </a:p>
        </p:txBody>
      </p:sp>
      <p:sp>
        <p:nvSpPr>
          <p:cNvPr id="17" name="page-number">
            <a:extLst>
              <a:ext uri="{FF2B5EF4-FFF2-40B4-BE49-F238E27FC236}">
                <a16:creationId xmlns:a16="http://schemas.microsoft.com/office/drawing/2014/main" id="{B6608032-9682-4284-A830-58B0EC8950B0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B879A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873128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5E0D6983-BABB-4C51-8FE0-527EDF16A537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Interpreted during execution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F95CD92-80F8-414A-8818-3E495119B4AD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27A"/>
                </a:solidFill>
                <a:latin typeface="Arial"/>
                <a:ea typeface="Arial"/>
                <a:cs typeface="Arial"/>
              </a:rPr>
              <a:t>A runtime processes the program after it starts.</a:t>
            </a:r>
          </a:p>
        </p:txBody>
      </p:sp>
      <p:sp>
        <p:nvSpPr>
          <p:cNvPr id="3" name="interpret-step-0">
            <a:extLst>
              <a:ext uri="{FF2B5EF4-FFF2-40B4-BE49-F238E27FC236}">
                <a16:creationId xmlns:a16="http://schemas.microsoft.com/office/drawing/2014/main" id="{D325EC84-EB74-4D25-BA99-B93DAEE8A760}"/>
              </a:ext>
            </a:extLst>
          </p:cNvPr>
          <p:cNvSpPr>
            <a:spLocks noGrp="1"/>
          </p:cNvSpPr>
          <p:nvPr/>
        </p:nvSpPr>
        <p:spPr>
          <a:xfrm>
            <a:off x="1162050" y="232410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01  PROGRAM</a:t>
            </a:r>
          </a:p>
        </p:txBody>
      </p:sp>
      <p:sp>
        <p:nvSpPr>
          <p:cNvPr id="4" name="interpret-copy-0">
            <a:extLst>
              <a:ext uri="{FF2B5EF4-FFF2-40B4-BE49-F238E27FC236}">
                <a16:creationId xmlns:a16="http://schemas.microsoft.com/office/drawing/2014/main" id="{D9373667-CF87-41E3-B7DA-3398EC8CE40E}"/>
              </a:ext>
            </a:extLst>
          </p:cNvPr>
          <p:cNvSpPr>
            <a:spLocks noGrp="1"/>
          </p:cNvSpPr>
          <p:nvPr/>
        </p:nvSpPr>
        <p:spPr>
          <a:xfrm>
            <a:off x="1162050" y="2886075"/>
            <a:ext cx="266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Source code, or a</a:t>
            </a:r>
          </a:p>
          <a:p>
            <a:pPr algn="l">
              <a:lnSpc>
                <a:spcPct val="105000"/>
              </a:lnSpc>
              <a:buNone/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prepared form</a:t>
            </a:r>
          </a:p>
        </p:txBody>
      </p:sp>
      <p:sp>
        <p:nvSpPr>
          <p:cNvPr id="5" name="interpret-arrow-0">
            <a:extLst>
              <a:ext uri="{FF2B5EF4-FFF2-40B4-BE49-F238E27FC236}">
                <a16:creationId xmlns:a16="http://schemas.microsoft.com/office/drawing/2014/main" id="{6CB56D84-3808-459C-BBB1-6A759FCB9C1A}"/>
              </a:ext>
            </a:extLst>
          </p:cNvPr>
          <p:cNvSpPr>
            <a:spLocks noGrp="1"/>
          </p:cNvSpPr>
          <p:nvPr/>
        </p:nvSpPr>
        <p:spPr>
          <a:xfrm>
            <a:off x="4019550" y="26289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8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8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interpret-step-1">
            <a:extLst>
              <a:ext uri="{FF2B5EF4-FFF2-40B4-BE49-F238E27FC236}">
                <a16:creationId xmlns:a16="http://schemas.microsoft.com/office/drawing/2014/main" id="{461356DF-B561-4B91-BC9D-E7C918785604}"/>
              </a:ext>
            </a:extLst>
          </p:cNvPr>
          <p:cNvSpPr>
            <a:spLocks noGrp="1"/>
          </p:cNvSpPr>
          <p:nvPr/>
        </p:nvSpPr>
        <p:spPr>
          <a:xfrm>
            <a:off x="4829175" y="232410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02  RUNTIME</a:t>
            </a:r>
          </a:p>
        </p:txBody>
      </p:sp>
      <p:sp>
        <p:nvSpPr>
          <p:cNvPr id="7" name="interpret-copy-1">
            <a:extLst>
              <a:ext uri="{FF2B5EF4-FFF2-40B4-BE49-F238E27FC236}">
                <a16:creationId xmlns:a16="http://schemas.microsoft.com/office/drawing/2014/main" id="{F64750DD-FABB-46C3-AB60-6B541D89A6C2}"/>
              </a:ext>
            </a:extLst>
          </p:cNvPr>
          <p:cNvSpPr>
            <a:spLocks noGrp="1"/>
          </p:cNvSpPr>
          <p:nvPr/>
        </p:nvSpPr>
        <p:spPr>
          <a:xfrm>
            <a:off x="4829175" y="2886075"/>
            <a:ext cx="266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Interpreter or virtual</a:t>
            </a:r>
          </a:p>
          <a:p>
            <a:pPr algn="l">
              <a:lnSpc>
                <a:spcPct val="105000"/>
              </a:lnSpc>
              <a:buNone/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machine processes it</a:t>
            </a:r>
          </a:p>
        </p:txBody>
      </p:sp>
      <p:sp>
        <p:nvSpPr>
          <p:cNvPr id="8" name="interpret-arrow-1">
            <a:extLst>
              <a:ext uri="{FF2B5EF4-FFF2-40B4-BE49-F238E27FC236}">
                <a16:creationId xmlns:a16="http://schemas.microsoft.com/office/drawing/2014/main" id="{6820F3C2-F264-49B1-817E-C934A45DAEA3}"/>
              </a:ext>
            </a:extLst>
          </p:cNvPr>
          <p:cNvSpPr>
            <a:spLocks noGrp="1"/>
          </p:cNvSpPr>
          <p:nvPr/>
        </p:nvSpPr>
        <p:spPr>
          <a:xfrm>
            <a:off x="7686675" y="26289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8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8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interpret-step-2">
            <a:extLst>
              <a:ext uri="{FF2B5EF4-FFF2-40B4-BE49-F238E27FC236}">
                <a16:creationId xmlns:a16="http://schemas.microsoft.com/office/drawing/2014/main" id="{93034D16-6EBC-4441-92ED-7E480F3DEA70}"/>
              </a:ext>
            </a:extLst>
          </p:cNvPr>
          <p:cNvSpPr>
            <a:spLocks noGrp="1"/>
          </p:cNvSpPr>
          <p:nvPr/>
        </p:nvSpPr>
        <p:spPr>
          <a:xfrm>
            <a:off x="8496300" y="232410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03  EXECUTION</a:t>
            </a:r>
          </a:p>
        </p:txBody>
      </p:sp>
      <p:sp>
        <p:nvSpPr>
          <p:cNvPr id="10" name="interpret-copy-2">
            <a:extLst>
              <a:ext uri="{FF2B5EF4-FFF2-40B4-BE49-F238E27FC236}">
                <a16:creationId xmlns:a16="http://schemas.microsoft.com/office/drawing/2014/main" id="{1C776757-CA01-4051-9955-D0BDB25FFEAC}"/>
              </a:ext>
            </a:extLst>
          </p:cNvPr>
          <p:cNvSpPr>
            <a:spLocks noGrp="1"/>
          </p:cNvSpPr>
          <p:nvPr/>
        </p:nvSpPr>
        <p:spPr>
          <a:xfrm>
            <a:off x="8496300" y="2886075"/>
            <a:ext cx="266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Instructions produce</a:t>
            </a:r>
          </a:p>
          <a:p>
            <a:pPr algn="l">
              <a:lnSpc>
                <a:spcPct val="105000"/>
              </a:lnSpc>
              <a:buNone/>
              <a:defRPr sz="1800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3B"/>
                </a:solidFill>
                <a:latin typeface="Arial"/>
                <a:ea typeface="Arial"/>
                <a:cs typeface="Arial"/>
              </a:rPr>
              <a:t>the program’s behavior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3DBF7B9-A3C8-43F2-BCF0-E6BACB6E02BD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10620375" cy="9525"/>
          </a:xfrm>
          <a:prstGeom prst="line">
            <a:avLst/>
          </a:prstGeom>
          <a:noFill/>
          <a:ln w="19050">
            <a:solidFill>
              <a:srgbClr val="CB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nterpret-example-label">
            <a:extLst>
              <a:ext uri="{FF2B5EF4-FFF2-40B4-BE49-F238E27FC236}">
                <a16:creationId xmlns:a16="http://schemas.microsoft.com/office/drawing/2014/main" id="{B2B472CB-2AC6-4589-A782-C3DAC36DB917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IMPORTANT DETAIL</a:t>
            </a:r>
          </a:p>
        </p:txBody>
      </p:sp>
      <p:sp>
        <p:nvSpPr>
          <p:cNvPr id="13" name="interpret-example">
            <a:extLst>
              <a:ext uri="{FF2B5EF4-FFF2-40B4-BE49-F238E27FC236}">
                <a16:creationId xmlns:a16="http://schemas.microsoft.com/office/drawing/2014/main" id="{3277AE8F-D08C-4BEB-AEE6-B712F90135E6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B1730"/>
                </a:solidFill>
                <a:latin typeface="Arial"/>
                <a:ea typeface="Arial"/>
                <a:cs typeface="Arial"/>
              </a:rPr>
              <a:t>An interpreter may run source directly or execute bytecode prepared earlier.</a:t>
            </a:r>
          </a:p>
        </p:txBody>
      </p:sp>
      <p:sp>
        <p:nvSpPr>
          <p:cNvPr id="14" name="page-number">
            <a:extLst>
              <a:ext uri="{FF2B5EF4-FFF2-40B4-BE49-F238E27FC236}">
                <a16:creationId xmlns:a16="http://schemas.microsoft.com/office/drawing/2014/main" id="{4C3AF04B-C151-4C89-BD6B-7E0A32BD44B2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B879A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15906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1601BA1C-DCAA-411B-81AA-DC06EB84CB0D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Real languages mix both methods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E5993AC-E5B7-42C4-82D9-17163314C375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27A"/>
                </a:solidFill>
                <a:latin typeface="Arial"/>
                <a:ea typeface="Arial"/>
                <a:cs typeface="Arial"/>
              </a:rPr>
              <a:t>The language name alone does not tell the whole execution story.</a:t>
            </a:r>
          </a:p>
        </p:txBody>
      </p:sp>
      <p:sp>
        <p:nvSpPr>
          <p:cNvPr id="3" name="language-name-0">
            <a:extLst>
              <a:ext uri="{FF2B5EF4-FFF2-40B4-BE49-F238E27FC236}">
                <a16:creationId xmlns:a16="http://schemas.microsoft.com/office/drawing/2014/main" id="{FD49857F-AEE2-4293-9E0B-86E1B0DCAFEE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4" name="language-flow-0">
            <a:extLst>
              <a:ext uri="{FF2B5EF4-FFF2-40B4-BE49-F238E27FC236}">
                <a16:creationId xmlns:a16="http://schemas.microsoft.com/office/drawing/2014/main" id="{7E28A86B-CE11-49F2-8980-B540F911AB8B}"/>
              </a:ext>
            </a:extLst>
          </p:cNvPr>
          <p:cNvSpPr>
            <a:spLocks noGrp="1"/>
          </p:cNvSpPr>
          <p:nvPr/>
        </p:nvSpPr>
        <p:spPr>
          <a:xfrm>
            <a:off x="2857500" y="2114550"/>
            <a:ext cx="828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B1730"/>
                </a:solidFill>
                <a:latin typeface="Arial"/>
                <a:ea typeface="Arial"/>
                <a:cs typeface="Arial"/>
              </a:rPr>
              <a:t>Source  →  compiler  →  executable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E4EA73A-3084-4240-BEB7-173B377C6110}"/>
              </a:ext>
            </a:extLst>
          </p:cNvPr>
          <p:cNvSpPr>
            <a:spLocks noGrp="1"/>
          </p:cNvSpPr>
          <p:nvPr/>
        </p:nvSpPr>
        <p:spPr>
          <a:xfrm>
            <a:off x="819150" y="2914650"/>
            <a:ext cx="10382250" cy="9525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anguage-name-1">
            <a:extLst>
              <a:ext uri="{FF2B5EF4-FFF2-40B4-BE49-F238E27FC236}">
                <a16:creationId xmlns:a16="http://schemas.microsoft.com/office/drawing/2014/main" id="{BD61EDEB-D747-4083-ABAB-CA32289EB712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BD6A0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D6A08"/>
                </a:solidFill>
                <a:latin typeface="Arial"/>
                <a:ea typeface="Arial"/>
                <a:cs typeface="Arial"/>
              </a:rPr>
              <a:t>CPYTHON</a:t>
            </a:r>
          </a:p>
        </p:txBody>
      </p:sp>
      <p:sp>
        <p:nvSpPr>
          <p:cNvPr id="7" name="language-flow-1">
            <a:extLst>
              <a:ext uri="{FF2B5EF4-FFF2-40B4-BE49-F238E27FC236}">
                <a16:creationId xmlns:a16="http://schemas.microsoft.com/office/drawing/2014/main" id="{5CE12A69-8970-464F-B78E-3E1301FD48B3}"/>
              </a:ext>
            </a:extLst>
          </p:cNvPr>
          <p:cNvSpPr>
            <a:spLocks noGrp="1"/>
          </p:cNvSpPr>
          <p:nvPr/>
        </p:nvSpPr>
        <p:spPr>
          <a:xfrm>
            <a:off x="2857500" y="3333750"/>
            <a:ext cx="828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B1730"/>
                </a:solidFill>
                <a:latin typeface="Arial"/>
                <a:ea typeface="Arial"/>
                <a:cs typeface="Arial"/>
              </a:rPr>
              <a:t>Source  →  bytecode  →  Python virtual machine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E2BF3EE-F875-417B-898A-4BF3D7E4BAB2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10382250" cy="9525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language-name-2">
            <a:extLst>
              <a:ext uri="{FF2B5EF4-FFF2-40B4-BE49-F238E27FC236}">
                <a16:creationId xmlns:a16="http://schemas.microsoft.com/office/drawing/2014/main" id="{31B6658C-58E9-483C-9E16-B16DE8462487}"/>
              </a:ext>
            </a:extLst>
          </p:cNvPr>
          <p:cNvSpPr>
            <a:spLocks noGrp="1"/>
          </p:cNvSpPr>
          <p:nvPr/>
        </p:nvSpPr>
        <p:spPr>
          <a:xfrm>
            <a:off x="819150" y="45720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JAVA</a:t>
            </a:r>
          </a:p>
        </p:txBody>
      </p:sp>
      <p:sp>
        <p:nvSpPr>
          <p:cNvPr id="10" name="language-flow-2">
            <a:extLst>
              <a:ext uri="{FF2B5EF4-FFF2-40B4-BE49-F238E27FC236}">
                <a16:creationId xmlns:a16="http://schemas.microsoft.com/office/drawing/2014/main" id="{8CEEEDCD-8815-4DAB-A235-46A71E94B0B1}"/>
              </a:ext>
            </a:extLst>
          </p:cNvPr>
          <p:cNvSpPr>
            <a:spLocks noGrp="1"/>
          </p:cNvSpPr>
          <p:nvPr/>
        </p:nvSpPr>
        <p:spPr>
          <a:xfrm>
            <a:off x="2857500" y="4552950"/>
            <a:ext cx="828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B1730"/>
                </a:solidFill>
                <a:latin typeface="Arial"/>
                <a:ea typeface="Arial"/>
                <a:cs typeface="Arial"/>
              </a:rPr>
              <a:t>Source  →  .class bytecode  →  JVM  →  interpreter or JIT compiler</a:t>
            </a:r>
          </a:p>
        </p:txBody>
      </p:sp>
      <p:sp>
        <p:nvSpPr>
          <p:cNvPr id="11" name="mix-caveat">
            <a:extLst>
              <a:ext uri="{FF2B5EF4-FFF2-40B4-BE49-F238E27FC236}">
                <a16:creationId xmlns:a16="http://schemas.microsoft.com/office/drawing/2014/main" id="{7BF3FE17-693E-415B-9A4A-51805DFC60C8}"/>
              </a:ext>
            </a:extLst>
          </p:cNvPr>
          <p:cNvSpPr>
            <a:spLocks noGrp="1"/>
          </p:cNvSpPr>
          <p:nvPr/>
        </p:nvSpPr>
        <p:spPr>
          <a:xfrm>
            <a:off x="819150" y="571500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3627A"/>
                </a:solidFill>
                <a:latin typeface="Arial"/>
                <a:ea typeface="Arial"/>
                <a:cs typeface="Arial"/>
              </a:rPr>
              <a:t>Java’s JVM can also JIT-compile frequently used code into machine code.</a:t>
            </a:r>
          </a:p>
        </p:txBody>
      </p:sp>
      <p:sp>
        <p:nvSpPr>
          <p:cNvPr id="12" name="page-number">
            <a:extLst>
              <a:ext uri="{FF2B5EF4-FFF2-40B4-BE49-F238E27FC236}">
                <a16:creationId xmlns:a16="http://schemas.microsoft.com/office/drawing/2014/main" id="{1911CF03-E3AE-464D-B097-F80A1FE9F88E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B879A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08379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5948BCEE-6415-4814-A54B-A791F8FC9DC7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Compiled and interpreted compared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FA94D69-79EA-4E30-87A4-7D6C1A61C44F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27A"/>
                </a:solidFill>
                <a:latin typeface="Arial"/>
                <a:ea typeface="Arial"/>
                <a:cs typeface="Arial"/>
              </a:rPr>
              <a:t>Typical patterns, not guarantees for every language or runtime.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F84F49-756D-4D01-AABE-E40E42823278}"/>
              </a:ext>
            </a:extLst>
          </p:cNvPr>
          <p:cNvGraphicFramePr/>
          <p:nvPr/>
        </p:nvGraphicFramePr>
        <p:xfrm>
          <a:off x="762000" y="1752600"/>
          <a:ext cx="10668000" cy="39433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anchor="ctr">
                    <a:lnL w="9525">
                      <a:solidFill>
                        <a:srgbClr val="D7E0EB"/>
                      </a:solidFill>
                      <a:prstDash val="soli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>
                      <a:solidFill>
                        <a:srgbClr val="D7E0EB"/>
                      </a:solidFill>
                      <a:prstDash val="soli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Compiled-first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>
                      <a:solidFill>
                        <a:srgbClr val="D7E0EB"/>
                      </a:solidFill>
                      <a:prstDash val="soli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Interpreted-first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>
                      <a:solidFill>
                        <a:srgbClr val="D7E0EB"/>
                      </a:solidFill>
                      <a:prstDash val="soli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When is translation done?</a:t>
                      </a:r>
                    </a:p>
                  </a:txBody>
                  <a:tcPr anchor="ctr">
                    <a:lnL w="9525">
                      <a:solidFill>
                        <a:srgbClr val="D7E0EB"/>
                      </a:solidFill>
                      <a:prstDash val="soli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Before the program starts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During execution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What does the computer run?</a:t>
                      </a:r>
                    </a:p>
                  </a:txBody>
                  <a:tcPr anchor="ctr">
                    <a:lnL w="9525">
                      <a:solidFill>
                        <a:srgbClr val="D7E0EB"/>
                      </a:solidFill>
                      <a:prstDash val="soli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Compiled output: native code or bytecode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A runtime processing source or bytecode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What do you need?</a:t>
                      </a:r>
                    </a:p>
                  </a:txBody>
                  <a:tcPr anchor="ctr">
                    <a:lnL w="9525">
                      <a:solidFill>
                        <a:srgbClr val="D7E0EB"/>
                      </a:solidFill>
                      <a:prstDash val="soli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Build tools, then a compatible output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A compatible interpreter or runtime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What about speed?</a:t>
                      </a:r>
                    </a:p>
                  </a:txBody>
                  <a:tcPr anchor="ctr">
                    <a:lnL w="9525">
                      <a:solidFill>
                        <a:srgbClr val="D7E0EB"/>
                      </a:solidFill>
                      <a:prstDash val="soli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May optimize before launch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7243B"/>
                          </a:solidFill>
                          <a:latin typeface="Arial"/>
                          <a:ea typeface="Arial"/>
                          <a:cs typeface="Arial"/>
                        </a:rPr>
                        <a:t>Runtime overhead may occur; JIT can optimize hot code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B"/>
                      </a:solidFill>
                      <a:prstDash val="solid"/>
                    </a:lnR>
                    <a:lnT w="9525" cap="flat" cmpd="sng" algn="ctr">
                      <a:solidFill>
                        <a:srgbClr val="D7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B"/>
                      </a:solidFill>
                      <a:prstDash val="solid"/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page-number">
            <a:extLst>
              <a:ext uri="{FF2B5EF4-FFF2-40B4-BE49-F238E27FC236}">
                <a16:creationId xmlns:a16="http://schemas.microsoft.com/office/drawing/2014/main" id="{D3A17FEC-F585-4B20-B135-08A3BEB343C1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B879A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25862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akeaway-title">
            <a:extLst>
              <a:ext uri="{FF2B5EF4-FFF2-40B4-BE49-F238E27FC236}">
                <a16:creationId xmlns:a16="http://schemas.microsoft.com/office/drawing/2014/main" id="{456C7402-DBD8-46AE-AADD-A39E61A56600}"/>
              </a:ext>
            </a:extLst>
          </p:cNvPr>
          <p:cNvSpPr>
            <a:spLocks noGrp="1"/>
          </p:cNvSpPr>
          <p:nvPr/>
        </p:nvSpPr>
        <p:spPr>
          <a:xfrm>
            <a:off x="781050" y="5143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to remember</a:t>
            </a:r>
          </a:p>
        </p:txBody>
      </p:sp>
      <p:sp>
        <p:nvSpPr>
          <p:cNvPr id="2" name="takeaway-main">
            <a:extLst>
              <a:ext uri="{FF2B5EF4-FFF2-40B4-BE49-F238E27FC236}">
                <a16:creationId xmlns:a16="http://schemas.microsoft.com/office/drawing/2014/main" id="{214AB07E-411F-4637-91C3-F4C7D3200C0C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001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EAF3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96000"/>
              </a:lnSpc>
              <a:buNone/>
              <a:defRPr sz="3150" b="1">
                <a:solidFill>
                  <a:srgbClr val="EA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Compiled vs interpreted is mainly about when translation happens.</a:t>
            </a:r>
          </a:p>
        </p:txBody>
      </p:sp>
      <p:sp>
        <p:nvSpPr>
          <p:cNvPr id="3" name="takeaway-label-0">
            <a:extLst>
              <a:ext uri="{FF2B5EF4-FFF2-40B4-BE49-F238E27FC236}">
                <a16:creationId xmlns:a16="http://schemas.microsoft.com/office/drawing/2014/main" id="{BD6CC631-17CF-4B88-9515-69D59ED4FB05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F5B5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F5B5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B544"/>
                </a:solidFill>
                <a:latin typeface="Arial"/>
                <a:ea typeface="Arial"/>
                <a:cs typeface="Arial"/>
              </a:rPr>
              <a:t>BEFORE RUN</a:t>
            </a:r>
          </a:p>
        </p:txBody>
      </p:sp>
      <p:sp>
        <p:nvSpPr>
          <p:cNvPr id="4" name="takeaway-copy-0">
            <a:extLst>
              <a:ext uri="{FF2B5EF4-FFF2-40B4-BE49-F238E27FC236}">
                <a16:creationId xmlns:a16="http://schemas.microsoft.com/office/drawing/2014/main" id="{56178EFE-1019-461D-BD76-8F0E57762D63}"/>
              </a:ext>
            </a:extLst>
          </p:cNvPr>
          <p:cNvSpPr>
            <a:spLocks noGrp="1"/>
          </p:cNvSpPr>
          <p:nvPr/>
        </p:nvSpPr>
        <p:spPr>
          <a:xfrm>
            <a:off x="3086100" y="31623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compiler prepares output first.</a:t>
            </a:r>
          </a:p>
        </p:txBody>
      </p:sp>
      <p:sp>
        <p:nvSpPr>
          <p:cNvPr id="5" name="takeaway-label-1">
            <a:extLst>
              <a:ext uri="{FF2B5EF4-FFF2-40B4-BE49-F238E27FC236}">
                <a16:creationId xmlns:a16="http://schemas.microsoft.com/office/drawing/2014/main" id="{33A175F9-2115-4782-A272-1A80F2FF69D2}"/>
              </a:ext>
            </a:extLst>
          </p:cNvPr>
          <p:cNvSpPr>
            <a:spLocks noGrp="1"/>
          </p:cNvSpPr>
          <p:nvPr/>
        </p:nvSpPr>
        <p:spPr>
          <a:xfrm>
            <a:off x="819150" y="40576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5BD0C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5BD0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D0C0"/>
                </a:solidFill>
                <a:latin typeface="Arial"/>
                <a:ea typeface="Arial"/>
                <a:cs typeface="Arial"/>
              </a:rPr>
              <a:t>DURING RUN</a:t>
            </a:r>
          </a:p>
        </p:txBody>
      </p:sp>
      <p:sp>
        <p:nvSpPr>
          <p:cNvPr id="6" name="takeaway-copy-1">
            <a:extLst>
              <a:ext uri="{FF2B5EF4-FFF2-40B4-BE49-F238E27FC236}">
                <a16:creationId xmlns:a16="http://schemas.microsoft.com/office/drawing/2014/main" id="{9D4DFD58-22C0-4927-8E64-7B2F0830A758}"/>
              </a:ext>
            </a:extLst>
          </p:cNvPr>
          <p:cNvSpPr>
            <a:spLocks noGrp="1"/>
          </p:cNvSpPr>
          <p:nvPr/>
        </p:nvSpPr>
        <p:spPr>
          <a:xfrm>
            <a:off x="3086100" y="401955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runtime processes source or bytecode.</a:t>
            </a:r>
          </a:p>
        </p:txBody>
      </p:sp>
      <p:sp>
        <p:nvSpPr>
          <p:cNvPr id="7" name="takeaway-label-2">
            <a:extLst>
              <a:ext uri="{FF2B5EF4-FFF2-40B4-BE49-F238E27FC236}">
                <a16:creationId xmlns:a16="http://schemas.microsoft.com/office/drawing/2014/main" id="{9AE94A91-20E0-41D7-8C06-262F3B6B7EA5}"/>
              </a:ext>
            </a:extLst>
          </p:cNvPr>
          <p:cNvSpPr>
            <a:spLocks noGrp="1"/>
          </p:cNvSpPr>
          <p:nvPr/>
        </p:nvSpPr>
        <p:spPr>
          <a:xfrm>
            <a:off x="819150" y="49149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8BB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8B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B8FF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8" name="takeaway-copy-2">
            <a:extLst>
              <a:ext uri="{FF2B5EF4-FFF2-40B4-BE49-F238E27FC236}">
                <a16:creationId xmlns:a16="http://schemas.microsoft.com/office/drawing/2014/main" id="{B72C817D-75C4-4AB4-B16C-A5430DDCB72B}"/>
              </a:ext>
            </a:extLst>
          </p:cNvPr>
          <p:cNvSpPr>
            <a:spLocks noGrp="1"/>
          </p:cNvSpPr>
          <p:nvPr/>
        </p:nvSpPr>
        <p:spPr>
          <a:xfrm>
            <a:off x="3086100" y="48768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Many languages use both approaches.</a:t>
            </a:r>
          </a:p>
        </p:txBody>
      </p:sp>
      <p:sp>
        <p:nvSpPr>
          <p:cNvPr id="9" name="questions">
            <a:extLst>
              <a:ext uri="{FF2B5EF4-FFF2-40B4-BE49-F238E27FC236}">
                <a16:creationId xmlns:a16="http://schemas.microsoft.com/office/drawing/2014/main" id="{59682948-1695-4459-90C6-3D709BE18CE0}"/>
              </a:ext>
            </a:extLst>
          </p:cNvPr>
          <p:cNvSpPr>
            <a:spLocks noGrp="1"/>
          </p:cNvSpPr>
          <p:nvPr/>
        </p:nvSpPr>
        <p:spPr>
          <a:xfrm>
            <a:off x="781050" y="5886450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A9C5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A9C5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9C5EA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0" name="page-number">
            <a:extLst>
              <a:ext uri="{FF2B5EF4-FFF2-40B4-BE49-F238E27FC236}">
                <a16:creationId xmlns:a16="http://schemas.microsoft.com/office/drawing/2014/main" id="{4B588CAD-C854-47E0-9124-E66C1296EB2A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B7C5DC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B7C5D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7C5DC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1159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E8768470-A8DB-4EC7-9232-5383A22A0549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600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998A568-B40A-4D8B-88A2-9295D53E870C}"/>
              </a:ext>
            </a:extLst>
          </p:cNvPr>
          <p:cNvSpPr>
            <a:spLocks noGrp="1"/>
          </p:cNvSpPr>
          <p:nvPr/>
        </p:nvSpPr>
        <p:spPr>
          <a:xfrm>
            <a:off x="781050" y="11049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>
                <a:solidFill>
                  <a:srgbClr val="5362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27A"/>
                </a:solidFill>
                <a:latin typeface="Arial"/>
                <a:ea typeface="Arial"/>
                <a:cs typeface="Arial"/>
              </a:rPr>
              <a:t>Official documentation used for the examples and definitions.</a:t>
            </a:r>
          </a:p>
        </p:txBody>
      </p:sp>
      <p:sp>
        <p:nvSpPr>
          <p:cNvPr id="3" name="source-org-0">
            <a:extLst>
              <a:ext uri="{FF2B5EF4-FFF2-40B4-BE49-F238E27FC236}">
                <a16:creationId xmlns:a16="http://schemas.microsoft.com/office/drawing/2014/main" id="{75583F4B-932B-4413-AC35-FC7E4AFCA0FD}"/>
              </a:ext>
            </a:extLst>
          </p:cNvPr>
          <p:cNvSpPr>
            <a:spLocks noGrp="1"/>
          </p:cNvSpPr>
          <p:nvPr/>
        </p:nvSpPr>
        <p:spPr>
          <a:xfrm>
            <a:off x="800100" y="17716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4F0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4" name="source-title-0">
            <a:extLst>
              <a:ext uri="{FF2B5EF4-FFF2-40B4-BE49-F238E27FC236}">
                <a16:creationId xmlns:a16="http://schemas.microsoft.com/office/drawing/2014/main" id="{A648206B-7EA9-4A16-AE98-6C5525C1A8C6}"/>
              </a:ext>
            </a:extLst>
          </p:cNvPr>
          <p:cNvSpPr>
            <a:spLocks noGrp="1"/>
          </p:cNvSpPr>
          <p:nvPr/>
        </p:nvSpPr>
        <p:spPr>
          <a:xfrm>
            <a:off x="2438400" y="1752600"/>
            <a:ext cx="847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Compile and install the application</a:t>
            </a:r>
          </a:p>
        </p:txBody>
      </p:sp>
      <p:sp>
        <p:nvSpPr>
          <p:cNvPr id="5" name="source-url-0">
            <a:extLst>
              <a:ext uri="{FF2B5EF4-FFF2-40B4-BE49-F238E27FC236}">
                <a16:creationId xmlns:a16="http://schemas.microsoft.com/office/drawing/2014/main" id="{41A85917-E9BF-4648-8E93-BC9AE71B3C10}"/>
              </a:ext>
            </a:extLst>
          </p:cNvPr>
          <p:cNvSpPr>
            <a:spLocks noGrp="1"/>
          </p:cNvSpPr>
          <p:nvPr/>
        </p:nvSpPr>
        <p:spPr>
          <a:xfrm>
            <a:off x="2438400" y="2095500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864F0"/>
                </a:solidFill>
                <a:latin typeface="Arial"/>
                <a:ea typeface="Arial"/>
                <a:cs typeface="Arial"/>
              </a:rPr>
              <a:t>https://go.dev/doc/tutorial/compile-install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6AE4A53-2073-4BF4-8AB3-C426CF4F0655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0287000" cy="9525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ource-org-1">
            <a:extLst>
              <a:ext uri="{FF2B5EF4-FFF2-40B4-BE49-F238E27FC236}">
                <a16:creationId xmlns:a16="http://schemas.microsoft.com/office/drawing/2014/main" id="{87CCD68B-0BEB-4103-AA2E-A9266531671D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source-title-1">
            <a:extLst>
              <a:ext uri="{FF2B5EF4-FFF2-40B4-BE49-F238E27FC236}">
                <a16:creationId xmlns:a16="http://schemas.microsoft.com/office/drawing/2014/main" id="{A9849858-9633-453F-91DE-C350FB34CEA8}"/>
              </a:ext>
            </a:extLst>
          </p:cNvPr>
          <p:cNvSpPr>
            <a:spLocks noGrp="1"/>
          </p:cNvSpPr>
          <p:nvPr/>
        </p:nvSpPr>
        <p:spPr>
          <a:xfrm>
            <a:off x="2438400" y="2628900"/>
            <a:ext cx="847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Glossary: bytecode and interpreted</a:t>
            </a:r>
          </a:p>
        </p:txBody>
      </p:sp>
      <p:sp>
        <p:nvSpPr>
          <p:cNvPr id="9" name="source-url-1">
            <a:extLst>
              <a:ext uri="{FF2B5EF4-FFF2-40B4-BE49-F238E27FC236}">
                <a16:creationId xmlns:a16="http://schemas.microsoft.com/office/drawing/2014/main" id="{2DDC9A41-5B69-4863-94AC-AA7368B66E81}"/>
              </a:ext>
            </a:extLst>
          </p:cNvPr>
          <p:cNvSpPr>
            <a:spLocks noGrp="1"/>
          </p:cNvSpPr>
          <p:nvPr/>
        </p:nvSpPr>
        <p:spPr>
          <a:xfrm>
            <a:off x="2438400" y="2971800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864F0"/>
                </a:solidFill>
                <a:latin typeface="Arial"/>
                <a:ea typeface="Arial"/>
                <a:cs typeface="Arial"/>
              </a:rPr>
              <a:t>https://docs.python.org/3/glossary.html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8198AF1-446F-45E3-8F10-DE9EC86E7C78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10287000" cy="9525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ource-org-2">
            <a:extLst>
              <a:ext uri="{FF2B5EF4-FFF2-40B4-BE49-F238E27FC236}">
                <a16:creationId xmlns:a16="http://schemas.microsoft.com/office/drawing/2014/main" id="{7151FE87-2823-4ADC-B00C-ED3747EC31E7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2" name="source-title-2">
            <a:extLst>
              <a:ext uri="{FF2B5EF4-FFF2-40B4-BE49-F238E27FC236}">
                <a16:creationId xmlns:a16="http://schemas.microsoft.com/office/drawing/2014/main" id="{13E9798B-122A-4A2B-9486-E6B64ECF9B36}"/>
              </a:ext>
            </a:extLst>
          </p:cNvPr>
          <p:cNvSpPr>
            <a:spLocks noGrp="1"/>
          </p:cNvSpPr>
          <p:nvPr/>
        </p:nvSpPr>
        <p:spPr>
          <a:xfrm>
            <a:off x="2438400" y="3505200"/>
            <a:ext cx="847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py_compile — compile Python source files</a:t>
            </a:r>
          </a:p>
        </p:txBody>
      </p:sp>
      <p:sp>
        <p:nvSpPr>
          <p:cNvPr id="13" name="source-url-2">
            <a:extLst>
              <a:ext uri="{FF2B5EF4-FFF2-40B4-BE49-F238E27FC236}">
                <a16:creationId xmlns:a16="http://schemas.microsoft.com/office/drawing/2014/main" id="{FCE58376-44A0-4394-BB45-281BEE093004}"/>
              </a:ext>
            </a:extLst>
          </p:cNvPr>
          <p:cNvSpPr>
            <a:spLocks noGrp="1"/>
          </p:cNvSpPr>
          <p:nvPr/>
        </p:nvSpPr>
        <p:spPr>
          <a:xfrm>
            <a:off x="2438400" y="3848100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864F0"/>
                </a:solidFill>
                <a:latin typeface="Arial"/>
                <a:ea typeface="Arial"/>
                <a:cs typeface="Arial"/>
              </a:rPr>
              <a:t>https://docs.python.org/3/library/py_compile.html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998EF8D-90E5-4DDC-B5A5-3287DA219B5F}"/>
              </a:ext>
            </a:extLst>
          </p:cNvPr>
          <p:cNvSpPr>
            <a:spLocks noGrp="1"/>
          </p:cNvSpPr>
          <p:nvPr/>
        </p:nvSpPr>
        <p:spPr>
          <a:xfrm>
            <a:off x="800100" y="4210050"/>
            <a:ext cx="10287000" cy="9525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ource-org-3">
            <a:extLst>
              <a:ext uri="{FF2B5EF4-FFF2-40B4-BE49-F238E27FC236}">
                <a16:creationId xmlns:a16="http://schemas.microsoft.com/office/drawing/2014/main" id="{01CA8E68-E5A3-4439-8D56-74148AF8AADC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Oracle Java</a:t>
            </a:r>
          </a:p>
        </p:txBody>
      </p:sp>
      <p:sp>
        <p:nvSpPr>
          <p:cNvPr id="16" name="source-title-3">
            <a:extLst>
              <a:ext uri="{FF2B5EF4-FFF2-40B4-BE49-F238E27FC236}">
                <a16:creationId xmlns:a16="http://schemas.microsoft.com/office/drawing/2014/main" id="{444A4883-B8EC-4F5F-B8C7-6BE1D5B8BEBA}"/>
              </a:ext>
            </a:extLst>
          </p:cNvPr>
          <p:cNvSpPr>
            <a:spLocks noGrp="1"/>
          </p:cNvSpPr>
          <p:nvPr/>
        </p:nvSpPr>
        <p:spPr>
          <a:xfrm>
            <a:off x="2438400" y="4381500"/>
            <a:ext cx="847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The Java Technology Phenomenon</a:t>
            </a:r>
          </a:p>
        </p:txBody>
      </p:sp>
      <p:sp>
        <p:nvSpPr>
          <p:cNvPr id="17" name="source-url-3">
            <a:extLst>
              <a:ext uri="{FF2B5EF4-FFF2-40B4-BE49-F238E27FC236}">
                <a16:creationId xmlns:a16="http://schemas.microsoft.com/office/drawing/2014/main" id="{23F30368-E844-415B-8924-0DE2A923F1FF}"/>
              </a:ext>
            </a:extLst>
          </p:cNvPr>
          <p:cNvSpPr>
            <a:spLocks noGrp="1"/>
          </p:cNvSpPr>
          <p:nvPr/>
        </p:nvSpPr>
        <p:spPr>
          <a:xfrm>
            <a:off x="2438400" y="4724400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864F0"/>
                </a:solidFill>
                <a:latin typeface="Arial"/>
                <a:ea typeface="Arial"/>
                <a:cs typeface="Arial"/>
              </a:rPr>
              <a:t>https://docs.oracle.com/javase/tutorial/getStarted/intro/definition.html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23604FC-86F0-43DA-8DBF-08187864D8C5}"/>
              </a:ext>
            </a:extLst>
          </p:cNvPr>
          <p:cNvSpPr>
            <a:spLocks noGrp="1"/>
          </p:cNvSpPr>
          <p:nvPr/>
        </p:nvSpPr>
        <p:spPr>
          <a:xfrm>
            <a:off x="800100" y="5086350"/>
            <a:ext cx="10287000" cy="9525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ource-org-4">
            <a:extLst>
              <a:ext uri="{FF2B5EF4-FFF2-40B4-BE49-F238E27FC236}">
                <a16:creationId xmlns:a16="http://schemas.microsoft.com/office/drawing/2014/main" id="{5D0BE3A7-7577-4CBE-8B74-A7A44748D0AF}"/>
              </a:ext>
            </a:extLst>
          </p:cNvPr>
          <p:cNvSpPr>
            <a:spLocks noGrp="1"/>
          </p:cNvSpPr>
          <p:nvPr/>
        </p:nvSpPr>
        <p:spPr>
          <a:xfrm>
            <a:off x="800100" y="52768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D8E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E7A"/>
                </a:solidFill>
                <a:latin typeface="Arial"/>
                <a:ea typeface="Arial"/>
                <a:cs typeface="Arial"/>
              </a:rPr>
              <a:t>Oracle GraalVM</a:t>
            </a:r>
          </a:p>
        </p:txBody>
      </p:sp>
      <p:sp>
        <p:nvSpPr>
          <p:cNvPr id="20" name="source-title-4">
            <a:extLst>
              <a:ext uri="{FF2B5EF4-FFF2-40B4-BE49-F238E27FC236}">
                <a16:creationId xmlns:a16="http://schemas.microsoft.com/office/drawing/2014/main" id="{177A75CD-4E00-4EBE-B9A8-1E4EE61F978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8477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730"/>
                </a:solidFill>
                <a:latin typeface="Arial"/>
                <a:ea typeface="Arial"/>
                <a:cs typeface="Arial"/>
              </a:rPr>
              <a:t>Graal Compiler</a:t>
            </a:r>
          </a:p>
        </p:txBody>
      </p:sp>
      <p:sp>
        <p:nvSpPr>
          <p:cNvPr id="21" name="source-url-4">
            <a:extLst>
              <a:ext uri="{FF2B5EF4-FFF2-40B4-BE49-F238E27FC236}">
                <a16:creationId xmlns:a16="http://schemas.microsoft.com/office/drawing/2014/main" id="{8F0088C0-9483-4EB0-A747-30BBE70539B4}"/>
              </a:ext>
            </a:extLst>
          </p:cNvPr>
          <p:cNvSpPr>
            <a:spLocks noGrp="1"/>
          </p:cNvSpPr>
          <p:nvPr/>
        </p:nvSpPr>
        <p:spPr>
          <a:xfrm>
            <a:off x="2438400" y="5600700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>
                <a:solidFill>
                  <a:srgbClr val="2864F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2864F0"/>
                </a:solidFill>
                <a:latin typeface="Arial"/>
                <a:ea typeface="Arial"/>
                <a:cs typeface="Arial"/>
              </a:rPr>
              <a:t>https://docs.oracle.com/en/graalvm/jdk/25/docs/reference-manual/java/compiler/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6E249663-E652-4749-B215-4D7B7A9FD8D7}"/>
              </a:ext>
            </a:extLst>
          </p:cNvPr>
          <p:cNvSpPr>
            <a:spLocks noGrp="1"/>
          </p:cNvSpPr>
          <p:nvPr/>
        </p:nvSpPr>
        <p:spPr>
          <a:xfrm>
            <a:off x="10668000" y="64389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125">
                <a:solidFill>
                  <a:srgbClr val="7B879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7B879A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603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1</cp:revision>
  <dcterms:created xsi:type="dcterms:W3CDTF">2026-10-13T11:28:18Z</dcterms:created>
  <dcterms:modified xsi:type="dcterms:W3CDTF">2026-10-13T12:15:12Z</dcterms:modified>
</cp:coreProperties>
</file>